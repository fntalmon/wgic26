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custom"/>
  <p:notesSz cx="12192000" cy="6858000"/>
  <p:embeddedFontLst>
    <p:embeddedFont>
      <p:font typeface="Liter" charset="-122" pitchFamily="34"/>
      <p:regular r:id="rId9"/>
    </p:embeddedFont>
    <p:embeddedFont>
      <p:font typeface="Quattrocento Sans" charset="-122" pitchFamily="34"/>
      <p:regular r:id="rId1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jpg"/><Relationship Id="rId3" Type="http://schemas.openxmlformats.org/officeDocument/2006/relationships/image" Target="../media/image2_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3_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jpg"/><Relationship Id="rId3" Type="http://schemas.openxmlformats.org/officeDocument/2006/relationships/image" Target="../media/image5_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Relationship Id="rId3" Type="http://schemas.openxmlformats.org/officeDocument/2006/relationships/image" Target="../media/image6_2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94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5588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A9B3AD"/>
                </a:solidFill>
                <a:latin typeface="Quattrocento Sans"/>
                <a:ea typeface="Quattrocento Sans"/>
              </a:rPr>
              <a:t>WGIC26 · WORLD GREEN INFRASTRUCTURE CONGRESS 2026 · BARCELONA–LLEIDA</a:t>
            </a:r>
            <a:endParaRPr lang="en-US" sz="1000" noProof="1"/>
          </a:p>
        </p:txBody>
      </p:sp>
      <p:sp>
        <p:nvSpPr>
          <p:cNvPr id="3" name="rule-top"/>
          <p:cNvSpPr/>
          <p:nvPr/>
        </p:nvSpPr>
        <p:spPr>
          <a:xfrm>
            <a:off x="609600" y="965200"/>
            <a:ext cx="10972800" cy="12700"/>
          </a:xfrm>
          <a:prstGeom prst="rect">
            <a:avLst/>
          </a:prstGeom>
          <a:solidFill>
            <a:srgbClr val="3D5C4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09600" y="1651000"/>
            <a:ext cx="8890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5000"/>
              </a:lnSpc>
            </a:pPr>
            <a:r>
              <a:rPr lang="en-US" sz="6400" noProof="1">
                <a:solidFill>
                  <a:srgbClr val="FFFFFF"/>
                </a:solidFill>
                <a:latin typeface="Liter"/>
                <a:ea typeface="Liter"/>
              </a:rPr>
              <a:t>Site</a:t>
            </a:r>
            <a:r>
              <a:rPr lang="en-US" sz="6400" noProof="1">
                <a:solidFill>
                  <a:srgbClr val="6DEF70"/>
                </a:solidFill>
                <a:latin typeface="Liter"/>
                <a:ea typeface="Liter"/>
              </a:rPr>
              <a:t> Report</a:t>
            </a:r>
            <a:endParaRPr lang="en-US" sz="1600" noProof="1"/>
          </a:p>
          <a:p>
            <a:pPr>
              <a:lnSpc>
                <a:spcPct val="105000"/>
              </a:lnSpc>
            </a:pPr>
            <a:r>
              <a:rPr lang="en-US" sz="6400" noProof="1">
                <a:solidFill>
                  <a:srgbClr val="FFFFFF"/>
                </a:solidFill>
                <a:latin typeface="Liter"/>
                <a:ea typeface="Liter"/>
              </a:rPr>
              <a:t>Nº2</a:t>
            </a:r>
            <a:endParaRPr lang="en-US" sz="1600" noProof="1"/>
          </a:p>
        </p:txBody>
      </p:sp>
      <p:sp>
        <p:nvSpPr>
          <p:cNvPr id="5" name="window"/>
          <p:cNvSpPr txBox="1"/>
          <p:nvPr/>
        </p:nvSpPr>
        <p:spPr>
          <a:xfrm>
            <a:off x="609600" y="38100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spc="300" kern="0">
                <a:solidFill>
                  <a:srgbClr val="6DEF70"/>
                </a:solidFill>
                <a:latin typeface="Liter"/>
                <a:ea typeface="Liter"/>
              </a:rPr>
              <a:t>JUL 29 — SEP 7, 2026</a:t>
            </a:r>
            <a:endParaRPr lang="en-US" sz="2000" noProof="1"/>
          </a:p>
        </p:txBody>
      </p:sp>
      <p:sp>
        <p:nvSpPr>
          <p:cNvPr id="6" name="intro"/>
          <p:cNvSpPr txBox="1"/>
          <p:nvPr/>
        </p:nvSpPr>
        <p:spPr>
          <a:xfrm>
            <a:off x="609600" y="4368800"/>
            <a:ext cx="787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A9B3AD"/>
                </a:solidFill>
                <a:latin typeface="Quattrocento Sans"/>
                <a:ea typeface="Quattrocento Sans"/>
              </a:rPr>
              <a:t>Everything that changed on wgic26.barcelona in the second build window: a registration-ready header, validated programme content, the WGIN Awards done properly, ten newsletters rebuilt as sent, and a full consistency pass.</a:t>
            </a:r>
            <a:endParaRPr lang="en-US" sz="1250" noProof="1"/>
          </a:p>
        </p:txBody>
      </p:sp>
      <p:sp>
        <p:nvSpPr>
          <p:cNvPr id="7" name="index"/>
          <p:cNvSpPr txBox="1"/>
          <p:nvPr/>
        </p:nvSpPr>
        <p:spPr>
          <a:xfrm>
            <a:off x="609600" y="5461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6DEF70"/>
                </a:solidFill>
                <a:latin typeface="Quattrocento Sans"/>
                <a:ea typeface="Quattrocento Sans"/>
              </a:rPr>
              <a:t>01</a:t>
            </a: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 Registration-ready header</a:t>
            </a:r>
            <a:r>
              <a:rPr lang="en-US" sz="1050" noProof="1">
                <a:solidFill>
                  <a:srgbClr val="6DEF70"/>
                </a:solidFill>
                <a:latin typeface="Quattrocento Sans"/>
                <a:ea typeface="Quattrocento Sans"/>
              </a:rPr>
              <a:t>02</a:t>
            </a: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 Main topics, validated</a:t>
            </a:r>
            <a:r>
              <a:rPr lang="en-US" sz="1050" noProof="1">
                <a:solidFill>
                  <a:srgbClr val="6DEF70"/>
                </a:solidFill>
                <a:latin typeface="Quattrocento Sans"/>
                <a:ea typeface="Quattrocento Sans"/>
              </a:rPr>
              <a:t>03</a:t>
            </a: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 WGIN Awards, official</a:t>
            </a:r>
            <a:endParaRPr lang="en-US" sz="1050" noProof="1"/>
          </a:p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6DEF70"/>
                </a:solidFill>
                <a:latin typeface="Quattrocento Sans"/>
                <a:ea typeface="Quattrocento Sans"/>
              </a:rPr>
              <a:t>04</a:t>
            </a: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 Newsletters, as sent</a:t>
            </a:r>
            <a:r>
              <a:rPr lang="en-US" sz="1050" noProof="1">
                <a:solidFill>
                  <a:srgbClr val="6DEF70"/>
                </a:solidFill>
                <a:latin typeface="Quattrocento Sans"/>
                <a:ea typeface="Quattrocento Sans"/>
              </a:rPr>
              <a:t>05</a:t>
            </a: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 The consistency pass</a:t>
            </a:r>
            <a:r>
              <a:rPr lang="en-US" sz="1050" noProof="1">
                <a:solidFill>
                  <a:srgbClr val="6DEF70"/>
                </a:solidFill>
                <a:latin typeface="Quattrocento Sans"/>
                <a:ea typeface="Quattrocento Sans"/>
              </a:rPr>
              <a:t>06</a:t>
            </a: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 Registrations snapshot</a:t>
            </a:r>
            <a:endParaRPr lang="en-US" sz="1050" noProof="1"/>
          </a:p>
        </p:txBody>
      </p:sp>
      <p:sp>
        <p:nvSpPr>
          <p:cNvPr id="8" name="footer"/>
          <p:cNvSpPr txBox="1"/>
          <p:nvPr/>
        </p:nvSpPr>
        <p:spPr>
          <a:xfrm>
            <a:off x="609600" y="6502400"/>
            <a:ext cx="1097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WGIC26 — SITE REPORT · JUL 29 – SEP 7, 2026</a:t>
            </a:r>
            <a:endParaRPr lang="en-US" sz="8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94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381000"/>
            <a:ext cx="1097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A9B3AD"/>
                </a:solidFill>
                <a:latin typeface="Quattrocento Sans"/>
                <a:ea typeface="Quattrocento Sans"/>
              </a:rPr>
              <a:t>01 — REGISTRATION-READY HEADER · SITE REPORT — JUL 29 – SEP 7, 2026</a:t>
            </a:r>
            <a:endParaRPr lang="en-US" sz="1000" noProof="1"/>
          </a:p>
        </p:txBody>
      </p:sp>
      <p:sp>
        <p:nvSpPr>
          <p:cNvPr id="3" name="subtitle"/>
          <p:cNvSpPr txBox="1"/>
          <p:nvPr/>
        </p:nvSpPr>
        <p:spPr>
          <a:xfrm>
            <a:off x="609600" y="660400"/>
            <a:ext cx="787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100" noProof="1">
                <a:solidFill>
                  <a:srgbClr val="FFFFFF"/>
                </a:solidFill>
                <a:latin typeface="Liter"/>
                <a:ea typeface="Liter"/>
              </a:rPr>
              <a:t>The front door now asks for the sale — politely, on every page.</a:t>
            </a:r>
            <a:endParaRPr lang="en-US" sz="2100" noProof="1"/>
          </a:p>
        </p:txBody>
      </p:sp>
      <p:sp>
        <p:nvSpPr>
          <p:cNvPr id="4" name="rule"/>
          <p:cNvSpPr/>
          <p:nvPr/>
        </p:nvSpPr>
        <p:spPr>
          <a:xfrm>
            <a:off x="609600" y="1549400"/>
            <a:ext cx="10972800" cy="12700"/>
          </a:xfrm>
          <a:prstGeom prst="rect">
            <a:avLst/>
          </a:prstGeom>
          <a:solidFill>
            <a:srgbClr val="3D5C48"/>
          </a:solidFill>
          <a:ln>
            <a:noFill/>
          </a:ln>
        </p:spPr>
      </p:sp>
      <p:sp>
        <p:nvSpPr>
          <p:cNvPr id="5" name="stat1"/>
          <p:cNvSpPr txBox="1"/>
          <p:nvPr/>
        </p:nvSpPr>
        <p:spPr>
          <a:xfrm>
            <a:off x="609600" y="1778000"/>
            <a:ext cx="2286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6DEF70"/>
                </a:solidFill>
                <a:latin typeface="Liter"/>
                <a:ea typeface="Liter"/>
              </a:rPr>
              <a:t>−15%</a:t>
            </a:r>
            <a:endParaRPr lang="en-US" sz="3000" noProof="1"/>
          </a:p>
        </p:txBody>
      </p:sp>
      <p:sp>
        <p:nvSpPr>
          <p:cNvPr id="6" name="stat1cap"/>
          <p:cNvSpPr txBox="1"/>
          <p:nvPr/>
        </p:nvSpPr>
        <p:spPr>
          <a:xfrm>
            <a:off x="609600" y="23114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EARLY-BIRD BADGE IN THE HEADER + TOP AND BOTTOM STRIPS</a:t>
            </a:r>
            <a:endParaRPr lang="en-US" sz="850" noProof="1"/>
          </a:p>
        </p:txBody>
      </p:sp>
      <p:sp>
        <p:nvSpPr>
          <p:cNvPr id="7" name="stat2"/>
          <p:cNvSpPr txBox="1"/>
          <p:nvPr/>
        </p:nvSpPr>
        <p:spPr>
          <a:xfrm>
            <a:off x="3556000" y="1778000"/>
            <a:ext cx="2286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6DEF70"/>
                </a:solidFill>
                <a:latin typeface="Liter"/>
                <a:ea typeface="Liter"/>
              </a:rPr>
              <a:t>100%</a:t>
            </a:r>
            <a:endParaRPr lang="en-US" sz="3000" noProof="1"/>
          </a:p>
        </p:txBody>
      </p:sp>
      <p:sp>
        <p:nvSpPr>
          <p:cNvPr id="8" name="stat2cap"/>
          <p:cNvSpPr txBox="1"/>
          <p:nvPr/>
        </p:nvSpPr>
        <p:spPr>
          <a:xfrm>
            <a:off x="3556000" y="23114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REGISTER CTAS NOW POINT STRAIGHT TO HÉLICE</a:t>
            </a:r>
            <a:endParaRPr lang="en-US" sz="850" noProof="1"/>
          </a:p>
        </p:txBody>
      </p:sp>
      <p:sp>
        <p:nvSpPr>
          <p:cNvPr id="9" name="findings"/>
          <p:cNvSpPr txBox="1"/>
          <p:nvPr/>
        </p:nvSpPr>
        <p:spPr>
          <a:xfrm>
            <a:off x="609600" y="2997200"/>
            <a:ext cx="5461000" cy="330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Fixed header with a green </a:t>
            </a:r>
            <a:r>
              <a:rPr lang="en-US" sz="1100" noProof="1" b="1">
                <a:solidFill>
                  <a:srgbClr val="FFFFFF"/>
                </a:solidFill>
                <a:latin typeface="Quattrocento Sans"/>
                <a:ea typeface="Quattrocento Sans"/>
              </a:rPr>
              <a:t>Register now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button and a −15% badge, visible on every page and every scroll position.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ii.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Early-bird strips, top and bottom: register before 30 September and save 15%.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iii.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Every Register CTA — header, footer, newsletters — goes straight to the Hélice platform. No more detours through the site.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iv.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Early-bird dates are localized by language: 30/09 in Spanish, 09/30 in English.</a:t>
            </a:r>
            <a:endParaRPr lang="en-US" sz="1100" noProof="1"/>
          </a:p>
        </p:txBody>
      </p:sp>
      <p:sp>
        <p:nvSpPr>
          <p:cNvPr id="10" name="before-label"/>
          <p:cNvSpPr txBox="1"/>
          <p:nvPr/>
        </p:nvSpPr>
        <p:spPr>
          <a:xfrm>
            <a:off x="6604000" y="1752600"/>
            <a:ext cx="4978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BEFORE — JULY</a:t>
            </a:r>
            <a:endParaRPr lang="en-US" sz="850" noProof="1"/>
          </a:p>
        </p:txBody>
      </p:sp>
      <p:pic>
        <p:nvPicPr>
          <p:cNvPr id="11" name="before-img"/>
          <p:cNvPicPr/>
          <p:nvPr/>
        </p:nvPicPr>
        <p:blipFill>
          <a:blip r:embed="rId2"/>
          <a:srcRect b="62000"/>
          <a:stretch>
            <a:fillRect/>
          </a:stretch>
        </p:blipFill>
        <p:spPr>
          <a:xfrm>
            <a:off x="6604000" y="1981200"/>
            <a:ext cx="4978400" cy="1651000"/>
          </a:xfrm>
          <a:prstGeom prst="rect">
            <a:avLst/>
          </a:prstGeom>
          <a:ln>
            <a:noFill/>
          </a:ln>
        </p:spPr>
      </p:pic>
      <p:sp>
        <p:nvSpPr>
          <p:cNvPr id="12" name="before-img-border"/>
          <p:cNvSpPr/>
          <p:nvPr/>
        </p:nvSpPr>
        <p:spPr>
          <a:xfrm>
            <a:off x="6604000" y="1981200"/>
            <a:ext cx="4978400" cy="1651000"/>
          </a:xfrm>
          <a:prstGeom prst="rect">
            <a:avLst/>
          </a:prstGeom>
          <a:noFill/>
          <a:ln w="12700">
            <a:solidFill>
              <a:srgbClr val="3D5C48"/>
            </a:solidFill>
          </a:ln>
        </p:spPr>
      </p:sp>
      <p:sp>
        <p:nvSpPr>
          <p:cNvPr id="13" name="after-label"/>
          <p:cNvSpPr txBox="1"/>
          <p:nvPr/>
        </p:nvSpPr>
        <p:spPr>
          <a:xfrm>
            <a:off x="6604000" y="3810000"/>
            <a:ext cx="4978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6DEF70"/>
                </a:solidFill>
                <a:latin typeface="Quattrocento Sans"/>
                <a:ea typeface="Quattrocento Sans"/>
              </a:rPr>
              <a:t>AFTER — LIVE NOW</a:t>
            </a:r>
            <a:endParaRPr lang="en-US" sz="850" noProof="1"/>
          </a:p>
        </p:txBody>
      </p:sp>
      <p:pic>
        <p:nvPicPr>
          <p:cNvPr id="14" name="after-img"/>
          <p:cNvPicPr/>
          <p:nvPr/>
        </p:nvPicPr>
        <p:blipFill>
          <a:blip r:embed="rId3"/>
          <a:srcRect b="62000"/>
          <a:stretch>
            <a:fillRect/>
          </a:stretch>
        </p:blipFill>
        <p:spPr>
          <a:xfrm>
            <a:off x="6604000" y="4038600"/>
            <a:ext cx="4978400" cy="1651000"/>
          </a:xfrm>
          <a:prstGeom prst="rect">
            <a:avLst/>
          </a:prstGeom>
          <a:ln>
            <a:noFill/>
          </a:ln>
        </p:spPr>
      </p:pic>
      <p:sp>
        <p:nvSpPr>
          <p:cNvPr id="15" name="after-img-border"/>
          <p:cNvSpPr/>
          <p:nvPr/>
        </p:nvSpPr>
        <p:spPr>
          <a:xfrm>
            <a:off x="6604000" y="4038600"/>
            <a:ext cx="4978400" cy="1651000"/>
          </a:xfrm>
          <a:prstGeom prst="rect">
            <a:avLst/>
          </a:prstGeom>
          <a:noFill/>
          <a:ln w="12700">
            <a:solidFill>
              <a:srgbClr val="6DEF70"/>
            </a:solidFill>
          </a:ln>
        </p:spPr>
      </p:sp>
      <p:sp>
        <p:nvSpPr>
          <p:cNvPr id="16" name="tag"/>
          <p:cNvSpPr txBox="1"/>
          <p:nvPr/>
        </p:nvSpPr>
        <p:spPr>
          <a:xfrm>
            <a:off x="609600" y="6502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6DEF70"/>
                </a:solidFill>
                <a:latin typeface="Quattrocento Sans"/>
                <a:ea typeface="Quattrocento Sans"/>
              </a:rPr>
              <a:t>HEADER + REGISTRATION FUNNEL</a:t>
            </a:r>
            <a:endParaRPr lang="en-US" sz="850" noProof="1"/>
          </a:p>
        </p:txBody>
      </p:sp>
      <p:sp>
        <p:nvSpPr>
          <p:cNvPr id="17" name="footer"/>
          <p:cNvSpPr txBox="1"/>
          <p:nvPr/>
        </p:nvSpPr>
        <p:spPr>
          <a:xfrm>
            <a:off x="5689600" y="6502400"/>
            <a:ext cx="589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WGIC26 — SITE REPORT · SEP 2026</a:t>
            </a:r>
            <a:endParaRPr lang="en-US" sz="8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94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381000"/>
            <a:ext cx="1097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A9B3AD"/>
                </a:solidFill>
                <a:latin typeface="Quattrocento Sans"/>
                <a:ea typeface="Quattrocento Sans"/>
              </a:rPr>
              <a:t>02 — MAIN TOPICS, VALIDATED · SITE REPORT — JUL 29 – SEP 7, 2026</a:t>
            </a:r>
            <a:endParaRPr lang="en-US" sz="1000" noProof="1"/>
          </a:p>
        </p:txBody>
      </p:sp>
      <p:sp>
        <p:nvSpPr>
          <p:cNvPr id="3" name="subtitle"/>
          <p:cNvSpPr txBox="1"/>
          <p:nvPr/>
        </p:nvSpPr>
        <p:spPr>
          <a:xfrm>
            <a:off x="609600" y="660400"/>
            <a:ext cx="787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100" noProof="1">
                <a:solidFill>
                  <a:srgbClr val="FFFFFF"/>
                </a:solidFill>
                <a:latin typeface="Liter"/>
                <a:ea typeface="Liter"/>
              </a:rPr>
              <a:t>The programme's spine, rewritten with the committee and rebuilt as numbered cards.</a:t>
            </a:r>
            <a:endParaRPr lang="en-US" sz="2100" noProof="1"/>
          </a:p>
        </p:txBody>
      </p:sp>
      <p:sp>
        <p:nvSpPr>
          <p:cNvPr id="4" name="rule"/>
          <p:cNvSpPr/>
          <p:nvPr/>
        </p:nvSpPr>
        <p:spPr>
          <a:xfrm>
            <a:off x="609600" y="1549400"/>
            <a:ext cx="10972800" cy="12700"/>
          </a:xfrm>
          <a:prstGeom prst="rect">
            <a:avLst/>
          </a:prstGeom>
          <a:solidFill>
            <a:srgbClr val="3D5C48"/>
          </a:solidFill>
          <a:ln>
            <a:noFill/>
          </a:ln>
        </p:spPr>
      </p:sp>
      <p:sp>
        <p:nvSpPr>
          <p:cNvPr id="5" name="stat1"/>
          <p:cNvSpPr txBox="1"/>
          <p:nvPr/>
        </p:nvSpPr>
        <p:spPr>
          <a:xfrm>
            <a:off x="609600" y="1778000"/>
            <a:ext cx="2286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6DEF70"/>
                </a:solidFill>
                <a:latin typeface="Liter"/>
                <a:ea typeface="Liter"/>
              </a:rPr>
              <a:t>6+8+3</a:t>
            </a:r>
            <a:endParaRPr lang="en-US" sz="3000" noProof="1"/>
          </a:p>
        </p:txBody>
      </p:sp>
      <p:sp>
        <p:nvSpPr>
          <p:cNvPr id="6" name="stat1cap"/>
          <p:cNvSpPr txBox="1"/>
          <p:nvPr/>
        </p:nvSpPr>
        <p:spPr>
          <a:xfrm>
            <a:off x="609600" y="23114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MAIN TOPICS · IMPACT AREAS · WORKSHOPS</a:t>
            </a:r>
            <a:endParaRPr lang="en-US" sz="850" noProof="1"/>
          </a:p>
        </p:txBody>
      </p:sp>
      <p:sp>
        <p:nvSpPr>
          <p:cNvPr id="7" name="stat2cap"/>
          <p:cNvSpPr txBox="1"/>
          <p:nvPr/>
        </p:nvSpPr>
        <p:spPr>
          <a:xfrm>
            <a:off x="3556000" y="23114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COPY SET VALIDATED BY THE COMMITTEE BEFORE GOING LIVE</a:t>
            </a:r>
            <a:endParaRPr lang="en-US" sz="850" noProof="1"/>
          </a:p>
        </p:txBody>
      </p:sp>
      <p:sp>
        <p:nvSpPr>
          <p:cNvPr id="8" name="findings"/>
          <p:cNvSpPr txBox="1"/>
          <p:nvPr/>
        </p:nvSpPr>
        <p:spPr>
          <a:xfrm>
            <a:off x="609600" y="2997200"/>
            <a:ext cx="5461000" cy="330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The old accordion list is out. Each topic is now a numbered card with its own one-line pitch.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ii.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The full validated set is live: 6 main topics, 8 impact areas and 3 workshops, with the committee's descriptions.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iii.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A workshops preview — Global South, Health &amp; Well-being, Post-Conflict Recovery — sits on the same page, so the schedule story reads top to bottom.</a:t>
            </a:r>
            <a:endParaRPr lang="en-US" sz="1100" noProof="1"/>
          </a:p>
        </p:txBody>
      </p:sp>
      <p:sp>
        <p:nvSpPr>
          <p:cNvPr id="9" name="img1-label"/>
          <p:cNvSpPr txBox="1"/>
          <p:nvPr/>
        </p:nvSpPr>
        <p:spPr>
          <a:xfrm>
            <a:off x="6477000" y="1752600"/>
            <a:ext cx="5105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6DEF70"/>
                </a:solidFill>
                <a:latin typeface="Quattrocento Sans"/>
                <a:ea typeface="Quattrocento Sans"/>
              </a:rPr>
              <a:t>NUMBERED TOPIC CARDS</a:t>
            </a:r>
            <a:endParaRPr lang="en-US" sz="850" noProof="1"/>
          </a:p>
        </p:txBody>
      </p:sp>
      <p:pic>
        <p:nvPicPr>
          <p:cNvPr id="10" name="img1"/>
          <p:cNvPicPr/>
          <p:nvPr/>
        </p:nvPicPr>
        <p:blipFill>
          <a:blip r:embed="rId2"/>
          <a:srcRect t="10000" b="5000"/>
          <a:stretch>
            <a:fillRect/>
          </a:stretch>
        </p:blipFill>
        <p:spPr>
          <a:xfrm>
            <a:off x="6477000" y="1981200"/>
            <a:ext cx="5105400" cy="1905000"/>
          </a:xfrm>
          <a:prstGeom prst="rect">
            <a:avLst/>
          </a:prstGeom>
          <a:ln>
            <a:noFill/>
          </a:ln>
        </p:spPr>
      </p:pic>
      <p:sp>
        <p:nvSpPr>
          <p:cNvPr id="11" name="img1-border"/>
          <p:cNvSpPr/>
          <p:nvPr/>
        </p:nvSpPr>
        <p:spPr>
          <a:xfrm>
            <a:off x="6477000" y="1981200"/>
            <a:ext cx="5105400" cy="1905000"/>
          </a:xfrm>
          <a:prstGeom prst="rect">
            <a:avLst/>
          </a:prstGeom>
          <a:noFill/>
          <a:ln w="12700">
            <a:solidFill>
              <a:srgbClr val="3D5C48"/>
            </a:solidFill>
          </a:ln>
        </p:spPr>
      </p:sp>
      <p:sp>
        <p:nvSpPr>
          <p:cNvPr id="12" name="img2-label"/>
          <p:cNvSpPr txBox="1"/>
          <p:nvPr/>
        </p:nvSpPr>
        <p:spPr>
          <a:xfrm>
            <a:off x="6477000" y="4064000"/>
            <a:ext cx="5105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6DEF70"/>
                </a:solidFill>
                <a:latin typeface="Quattrocento Sans"/>
                <a:ea typeface="Quattrocento Sans"/>
              </a:rPr>
              <a:t>IMPACT AREAS + WORKSHOPS PREVIEW</a:t>
            </a:r>
            <a:endParaRPr lang="en-US" sz="850" noProof="1"/>
          </a:p>
        </p:txBody>
      </p:sp>
      <p:pic>
        <p:nvPicPr>
          <p:cNvPr id="13" name="img2"/>
          <p:cNvPicPr/>
          <p:nvPr/>
        </p:nvPicPr>
        <p:blipFill>
          <a:blip r:embed="rId3"/>
          <a:srcRect t="16000" b="5000"/>
          <a:stretch>
            <a:fillRect/>
          </a:stretch>
        </p:blipFill>
        <p:spPr>
          <a:xfrm>
            <a:off x="6477000" y="4292600"/>
            <a:ext cx="5105400" cy="1905000"/>
          </a:xfrm>
          <a:prstGeom prst="rect">
            <a:avLst/>
          </a:prstGeom>
          <a:ln>
            <a:noFill/>
          </a:ln>
        </p:spPr>
      </p:pic>
      <p:sp>
        <p:nvSpPr>
          <p:cNvPr id="14" name="img2-border"/>
          <p:cNvSpPr/>
          <p:nvPr/>
        </p:nvSpPr>
        <p:spPr>
          <a:xfrm>
            <a:off x="6477000" y="4292600"/>
            <a:ext cx="5105400" cy="1905000"/>
          </a:xfrm>
          <a:prstGeom prst="rect">
            <a:avLst/>
          </a:prstGeom>
          <a:noFill/>
          <a:ln w="12700">
            <a:solidFill>
              <a:srgbClr val="3D5C48"/>
            </a:solidFill>
          </a:ln>
        </p:spPr>
      </p:sp>
      <p:sp>
        <p:nvSpPr>
          <p:cNvPr id="15" name="tag"/>
          <p:cNvSpPr txBox="1"/>
          <p:nvPr/>
        </p:nvSpPr>
        <p:spPr>
          <a:xfrm>
            <a:off x="609600" y="6502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6DEF70"/>
                </a:solidFill>
                <a:latin typeface="Quattrocento Sans"/>
                <a:ea typeface="Quattrocento Sans"/>
              </a:rPr>
              <a:t>/PROGRAM/TOPICS</a:t>
            </a:r>
            <a:endParaRPr lang="en-US" sz="850" noProof="1"/>
          </a:p>
        </p:txBody>
      </p:sp>
      <p:sp>
        <p:nvSpPr>
          <p:cNvPr id="16" name="footer"/>
          <p:cNvSpPr txBox="1"/>
          <p:nvPr/>
        </p:nvSpPr>
        <p:spPr>
          <a:xfrm>
            <a:off x="5689600" y="6502400"/>
            <a:ext cx="589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WGIC26 — SITE REPORT · SEP 2026</a:t>
            </a:r>
            <a:endParaRPr lang="en-US" sz="8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94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381000"/>
            <a:ext cx="1097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A9B3AD"/>
                </a:solidFill>
                <a:latin typeface="Quattrocento Sans"/>
                <a:ea typeface="Quattrocento Sans"/>
              </a:rPr>
              <a:t>03 — WGIN AWARDS, OFFICIAL · SITE REPORT — JUL 29 – SEP 7, 2026</a:t>
            </a:r>
            <a:endParaRPr lang="en-US" sz="1000" noProof="1"/>
          </a:p>
        </p:txBody>
      </p:sp>
      <p:sp>
        <p:nvSpPr>
          <p:cNvPr id="3" name="subtitle"/>
          <p:cNvSpPr txBox="1"/>
          <p:nvPr/>
        </p:nvSpPr>
        <p:spPr>
          <a:xfrm>
            <a:off x="609600" y="660400"/>
            <a:ext cx="787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100" noProof="1">
                <a:solidFill>
                  <a:srgbClr val="FFFFFF"/>
                </a:solidFill>
                <a:latin typeface="Liter"/>
                <a:ea typeface="Liter"/>
              </a:rPr>
              <a:t>Expired modules out. The nine official categories in — with WGIN's own words and photos.</a:t>
            </a:r>
            <a:endParaRPr lang="en-US" sz="2100" noProof="1"/>
          </a:p>
        </p:txBody>
      </p:sp>
      <p:sp>
        <p:nvSpPr>
          <p:cNvPr id="4" name="rule"/>
          <p:cNvSpPr/>
          <p:nvPr/>
        </p:nvSpPr>
        <p:spPr>
          <a:xfrm>
            <a:off x="609600" y="1549400"/>
            <a:ext cx="10972800" cy="12700"/>
          </a:xfrm>
          <a:prstGeom prst="rect">
            <a:avLst/>
          </a:prstGeom>
          <a:solidFill>
            <a:srgbClr val="3D5C48"/>
          </a:solidFill>
          <a:ln>
            <a:noFill/>
          </a:ln>
        </p:spPr>
      </p:sp>
      <p:sp>
        <p:nvSpPr>
          <p:cNvPr id="5" name="stat1"/>
          <p:cNvSpPr txBox="1"/>
          <p:nvPr/>
        </p:nvSpPr>
        <p:spPr>
          <a:xfrm>
            <a:off x="609600" y="1778000"/>
            <a:ext cx="2286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6DEF70"/>
                </a:solidFill>
                <a:latin typeface="Liter"/>
                <a:ea typeface="Liter"/>
              </a:rPr>
              <a:t>9</a:t>
            </a:r>
            <a:endParaRPr lang="en-US" sz="3000" noProof="1"/>
          </a:p>
        </p:txBody>
      </p:sp>
      <p:sp>
        <p:nvSpPr>
          <p:cNvPr id="6" name="stat1cap"/>
          <p:cNvSpPr txBox="1"/>
          <p:nvPr/>
        </p:nvSpPr>
        <p:spPr>
          <a:xfrm>
            <a:off x="609600" y="23114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OFFICIAL AWARD CATEGORIES, EACH WITH DESCRIPTION AND PHOTO</a:t>
            </a:r>
            <a:endParaRPr lang="en-US" sz="850" noProof="1"/>
          </a:p>
        </p:txBody>
      </p:sp>
      <p:sp>
        <p:nvSpPr>
          <p:cNvPr id="7" name="stat2"/>
          <p:cNvSpPr txBox="1"/>
          <p:nvPr/>
        </p:nvSpPr>
        <p:spPr>
          <a:xfrm>
            <a:off x="3556000" y="1778000"/>
            <a:ext cx="2286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6DEF70"/>
                </a:solidFill>
                <a:latin typeface="Liter"/>
                <a:ea typeface="Liter"/>
              </a:rPr>
              <a:t>0</a:t>
            </a:r>
            <a:endParaRPr lang="en-US" sz="3000" noProof="1"/>
          </a:p>
        </p:txBody>
      </p:sp>
      <p:sp>
        <p:nvSpPr>
          <p:cNvPr id="8" name="stat2cap"/>
          <p:cNvSpPr txBox="1"/>
          <p:nvPr/>
        </p:nvSpPr>
        <p:spPr>
          <a:xfrm>
            <a:off x="3556000" y="23114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EXPIRED MODULES LEFT ON THE PAGE</a:t>
            </a:r>
            <a:endParaRPr lang="en-US" sz="850" noProof="1"/>
          </a:p>
        </p:txBody>
      </p:sp>
      <p:sp>
        <p:nvSpPr>
          <p:cNvPr id="9" name="findings"/>
          <p:cNvSpPr txBox="1"/>
          <p:nvPr/>
        </p:nvSpPr>
        <p:spPr>
          <a:xfrm>
            <a:off x="609600" y="2997200"/>
            <a:ext cx="5461000" cy="330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Removed the expired modules — past deadlines and outdated calls to action that made the awards look closed.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ii.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New intro links out to WGIN and announces that the 2026 winners will be recognized across nine key categories.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iii.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Every category card carries the official WGIN description and a photo pulled from awards.wgin.org, optimized for fast loading.</a:t>
            </a:r>
            <a:endParaRPr lang="en-US" sz="1100" noProof="1"/>
          </a:p>
        </p:txBody>
      </p:sp>
      <p:sp>
        <p:nvSpPr>
          <p:cNvPr id="10" name="img-label"/>
          <p:cNvSpPr txBox="1"/>
          <p:nvPr/>
        </p:nvSpPr>
        <p:spPr>
          <a:xfrm>
            <a:off x="6477000" y="1752600"/>
            <a:ext cx="5105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6DEF70"/>
                </a:solidFill>
                <a:latin typeface="Quattrocento Sans"/>
                <a:ea typeface="Quattrocento Sans"/>
              </a:rPr>
              <a:t>CATEGORY CARDS, LIVE</a:t>
            </a:r>
            <a:endParaRPr lang="en-US" sz="850" noProof="1"/>
          </a:p>
        </p:txBody>
      </p:sp>
      <p:pic>
        <p:nvPicPr>
          <p:cNvPr id="11" name="img"/>
          <p:cNvPicPr/>
          <p:nvPr/>
        </p:nvPicPr>
        <p:blipFill>
          <a:blip r:embed="rId2"/>
          <a:srcRect t="13000" b="7000"/>
          <a:stretch>
            <a:fillRect/>
          </a:stretch>
        </p:blipFill>
        <p:spPr>
          <a:xfrm>
            <a:off x="6477000" y="1981200"/>
            <a:ext cx="5105400" cy="2146300"/>
          </a:xfrm>
          <a:prstGeom prst="rect">
            <a:avLst/>
          </a:prstGeom>
          <a:ln>
            <a:noFill/>
          </a:ln>
        </p:spPr>
      </p:pic>
      <p:sp>
        <p:nvSpPr>
          <p:cNvPr id="12" name="img-border"/>
          <p:cNvSpPr/>
          <p:nvPr/>
        </p:nvSpPr>
        <p:spPr>
          <a:xfrm>
            <a:off x="6477000" y="1981200"/>
            <a:ext cx="5105400" cy="2146300"/>
          </a:xfrm>
          <a:prstGeom prst="rect">
            <a:avLst/>
          </a:prstGeom>
          <a:noFill/>
          <a:ln w="12700">
            <a:solidFill>
              <a:srgbClr val="3D5C48"/>
            </a:solidFill>
          </a:ln>
        </p:spPr>
      </p:sp>
      <p:sp>
        <p:nvSpPr>
          <p:cNvPr id="13" name="cats"/>
          <p:cNvSpPr txBox="1"/>
          <p:nvPr/>
        </p:nvSpPr>
        <p:spPr>
          <a:xfrm>
            <a:off x="6477000" y="4368800"/>
            <a:ext cx="51054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000" noProof="1">
                <a:solidFill>
                  <a:srgbClr val="FFFFFF"/>
                </a:solidFill>
                <a:latin typeface="Quattrocento Sans"/>
                <a:ea typeface="Quattrocento Sans"/>
              </a:rPr>
              <a:t>The nine categories:</a:t>
            </a:r>
            <a:r>
              <a:rPr lang="en-US" sz="1000" noProof="1">
                <a:solidFill>
                  <a:srgbClr val="A9B3AD"/>
                </a:solidFill>
                <a:latin typeface="Quattrocento Sans"/>
                <a:ea typeface="Quattrocento Sans"/>
              </a:rPr>
              <a:t> Green Roofs · Green Walls · Green Neighbourhood · Green Infrastructure Policy · GI Research: Academic Work · GI Research: Student Posters · Innovative Living Systems · Unintended Greenery · Green Infrastructure Champion</a:t>
            </a:r>
            <a:endParaRPr lang="en-US" sz="10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000" noProof="1">
                <a:solidFill>
                  <a:srgbClr val="A9B3AD"/>
                </a:solidFill>
                <a:latin typeface="Quattrocento Sans"/>
                <a:ea typeface="Quattrocento Sans"/>
              </a:rPr>
              <a:t>Copy and photography: official WGIN material, used with the committee's sign-off.</a:t>
            </a:r>
            <a:endParaRPr lang="en-US" sz="1000" noProof="1"/>
          </a:p>
        </p:txBody>
      </p:sp>
      <p:sp>
        <p:nvSpPr>
          <p:cNvPr id="14" name="tag"/>
          <p:cNvSpPr txBox="1"/>
          <p:nvPr/>
        </p:nvSpPr>
        <p:spPr>
          <a:xfrm>
            <a:off x="609600" y="6502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6DEF70"/>
                </a:solidFill>
                <a:latin typeface="Quattrocento Sans"/>
                <a:ea typeface="Quattrocento Sans"/>
              </a:rPr>
              <a:t>/PROGRAM/WGIN-AWARDS</a:t>
            </a:r>
            <a:endParaRPr lang="en-US" sz="850" noProof="1"/>
          </a:p>
        </p:txBody>
      </p:sp>
      <p:sp>
        <p:nvSpPr>
          <p:cNvPr id="15" name="footer"/>
          <p:cNvSpPr txBox="1"/>
          <p:nvPr/>
        </p:nvSpPr>
        <p:spPr>
          <a:xfrm>
            <a:off x="5689600" y="6502400"/>
            <a:ext cx="589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WGIC26 — SITE REPORT · SEP 2026</a:t>
            </a:r>
            <a:endParaRPr lang="en-US" sz="8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94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381000"/>
            <a:ext cx="1097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A9B3AD"/>
                </a:solidFill>
                <a:latin typeface="Quattrocento Sans"/>
                <a:ea typeface="Quattrocento Sans"/>
              </a:rPr>
              <a:t>04 — NEWSLETTERS, AS SENT · SITE REPORT — JUL 29 – SEP 7, 2026</a:t>
            </a:r>
            <a:endParaRPr lang="en-US" sz="1000" noProof="1"/>
          </a:p>
        </p:txBody>
      </p:sp>
      <p:sp>
        <p:nvSpPr>
          <p:cNvPr id="3" name="subtitle"/>
          <p:cNvSpPr txBox="1"/>
          <p:nvPr/>
        </p:nvSpPr>
        <p:spPr>
          <a:xfrm>
            <a:off x="609600" y="660400"/>
            <a:ext cx="787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100" noProof="1">
                <a:solidFill>
                  <a:srgbClr val="FFFFFF"/>
                </a:solidFill>
                <a:latin typeface="Liter"/>
                <a:ea typeface="Liter"/>
              </a:rPr>
              <a:t>Ten campaigns rebuilt as the emails people actually received — logos and all.</a:t>
            </a:r>
            <a:endParaRPr lang="en-US" sz="2100" noProof="1"/>
          </a:p>
        </p:txBody>
      </p:sp>
      <p:sp>
        <p:nvSpPr>
          <p:cNvPr id="4" name="rule"/>
          <p:cNvSpPr/>
          <p:nvPr/>
        </p:nvSpPr>
        <p:spPr>
          <a:xfrm>
            <a:off x="609600" y="1549400"/>
            <a:ext cx="10972800" cy="12700"/>
          </a:xfrm>
          <a:prstGeom prst="rect">
            <a:avLst/>
          </a:prstGeom>
          <a:solidFill>
            <a:srgbClr val="3D5C48"/>
          </a:solidFill>
          <a:ln>
            <a:noFill/>
          </a:ln>
        </p:spPr>
      </p:sp>
      <p:sp>
        <p:nvSpPr>
          <p:cNvPr id="5" name="stat1"/>
          <p:cNvSpPr txBox="1"/>
          <p:nvPr/>
        </p:nvSpPr>
        <p:spPr>
          <a:xfrm>
            <a:off x="609600" y="1778000"/>
            <a:ext cx="254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6DEF70"/>
                </a:solidFill>
                <a:latin typeface="Liter"/>
                <a:ea typeface="Liter"/>
              </a:rPr>
              <a:t>10 → 56</a:t>
            </a:r>
            <a:endParaRPr lang="en-US" sz="3000" noProof="1"/>
          </a:p>
        </p:txBody>
      </p:sp>
      <p:sp>
        <p:nvSpPr>
          <p:cNvPr id="6" name="stat1cap"/>
          <p:cNvSpPr txBox="1"/>
          <p:nvPr/>
        </p:nvSpPr>
        <p:spPr>
          <a:xfrm>
            <a:off x="609600" y="23114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CAMPAIGNS REBUILT → LOCALIZED PAGES LIVE</a:t>
            </a:r>
            <a:endParaRPr lang="en-US" sz="850" noProof="1"/>
          </a:p>
        </p:txBody>
      </p:sp>
      <p:sp>
        <p:nvSpPr>
          <p:cNvPr id="7" name="stat2"/>
          <p:cNvSpPr txBox="1"/>
          <p:nvPr/>
        </p:nvSpPr>
        <p:spPr>
          <a:xfrm>
            <a:off x="3556000" y="1778000"/>
            <a:ext cx="2286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6DEF70"/>
                </a:solidFill>
                <a:latin typeface="Liter"/>
                <a:ea typeface="Liter"/>
              </a:rPr>
              <a:t>100%</a:t>
            </a:r>
            <a:endParaRPr lang="en-US" sz="3000" noProof="1"/>
          </a:p>
        </p:txBody>
      </p:sp>
      <p:sp>
        <p:nvSpPr>
          <p:cNvPr id="8" name="stat2cap"/>
          <p:cNvSpPr txBox="1"/>
          <p:nvPr/>
        </p:nvSpPr>
        <p:spPr>
          <a:xfrm>
            <a:off x="3556000" y="23114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IN-EMAIL REGISTER LINKS NOW POINT TO HÉLICE</a:t>
            </a:r>
            <a:endParaRPr lang="en-US" sz="850" noProof="1"/>
          </a:p>
        </p:txBody>
      </p:sp>
      <p:sp>
        <p:nvSpPr>
          <p:cNvPr id="9" name="findings"/>
          <p:cNvSpPr txBox="1"/>
          <p:nvPr/>
        </p:nvSpPr>
        <p:spPr>
          <a:xfrm>
            <a:off x="609600" y="2997200"/>
            <a:ext cx="5461000" cy="330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Newsletters 1–10 rebuilt in real email format — header block, sections and footer as sent — across ±56 localized pages.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ii.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The broken logo rendering is fixed: the WGIC26 mark now shows in every issue.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iii.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Registration CTAs inside the newsletters go to Hélice, not back to the site.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>
                <a:solidFill>
                  <a:srgbClr val="6DEF70"/>
                </a:solidFill>
                <a:latin typeface="Quattrocento Sans"/>
                <a:ea typeface="Quattrocento Sans"/>
              </a:rPr>
              <a:t>iv.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A </a:t>
            </a:r>
            <a:r>
              <a:rPr lang="en-US" sz="1100" noProof="1" b="1">
                <a:solidFill>
                  <a:srgbClr val="FFFFFF"/>
                </a:solidFill>
                <a:latin typeface="Quattrocento Sans"/>
                <a:ea typeface="Quattrocento Sans"/>
              </a:rPr>
              <a:t>Register now</a:t>
            </a:r>
            <a:r>
              <a:rPr lang="en-US" sz="1100" noProof="1">
                <a:solidFill>
                  <a:srgbClr val="FFFFFF"/>
                </a:solidFill>
                <a:latin typeface="Quattrocento Sans"/>
                <a:ea typeface="Quattrocento Sans"/>
              </a:rPr>
              <a:t> link was added to the site footer, site-wide.</a:t>
            </a:r>
            <a:endParaRPr lang="en-US" sz="1100" noProof="1"/>
          </a:p>
        </p:txBody>
      </p:sp>
      <p:sp>
        <p:nvSpPr>
          <p:cNvPr id="10" name="img-label"/>
          <p:cNvSpPr txBox="1"/>
          <p:nvPr/>
        </p:nvSpPr>
        <p:spPr>
          <a:xfrm>
            <a:off x="6477000" y="1752600"/>
            <a:ext cx="5105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6DEF70"/>
                </a:solidFill>
                <a:latin typeface="Quattrocento Sans"/>
                <a:ea typeface="Quattrocento Sans"/>
              </a:rPr>
              <a:t>NEWSLETTER</a:t>
            </a:r>
            <a:endParaRPr lang="en-US" sz="850" noProof="1"/>
          </a:p>
        </p:txBody>
      </p:sp>
      <p:pic>
        <p:nvPicPr>
          <p:cNvPr id="11" name="img"/>
          <p:cNvPicPr/>
          <p:nvPr/>
        </p:nvPicPr>
        <p:blipFill>
          <a:blip r:embed="rId2"/>
          <a:srcRect t="18000" b="6000"/>
          <a:stretch>
            <a:fillRect/>
          </a:stretch>
        </p:blipFill>
        <p:spPr>
          <a:xfrm>
            <a:off x="6477000" y="1981200"/>
            <a:ext cx="5105400" cy="2146300"/>
          </a:xfrm>
          <a:prstGeom prst="rect">
            <a:avLst/>
          </a:prstGeom>
          <a:ln>
            <a:noFill/>
          </a:ln>
        </p:spPr>
      </p:pic>
      <p:sp>
        <p:nvSpPr>
          <p:cNvPr id="12" name="img-border"/>
          <p:cNvSpPr/>
          <p:nvPr/>
        </p:nvSpPr>
        <p:spPr>
          <a:xfrm>
            <a:off x="6477000" y="1981200"/>
            <a:ext cx="5105400" cy="2146300"/>
          </a:xfrm>
          <a:prstGeom prst="rect">
            <a:avLst/>
          </a:prstGeom>
          <a:noFill/>
          <a:ln w="12700">
            <a:solidFill>
              <a:srgbClr val="3D5C48"/>
            </a:solidFill>
          </a:ln>
        </p:spPr>
      </p:sp>
      <p:sp>
        <p:nvSpPr>
          <p:cNvPr id="13" name="img2-label"/>
          <p:cNvSpPr txBox="1"/>
          <p:nvPr/>
        </p:nvSpPr>
        <p:spPr>
          <a:xfrm>
            <a:off x="6477000" y="4318000"/>
            <a:ext cx="5105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6DEF70"/>
                </a:solidFill>
                <a:latin typeface="Quattrocento Sans"/>
                <a:ea typeface="Quattrocento Sans"/>
              </a:rPr>
              <a:t>BLOG, RELAUNCHED</a:t>
            </a:r>
            <a:endParaRPr lang="en-US" sz="850" noProof="1"/>
          </a:p>
        </p:txBody>
      </p:sp>
      <p:pic>
        <p:nvPicPr>
          <p:cNvPr id="14" name="img2"/>
          <p:cNvPicPr/>
          <p:nvPr/>
        </p:nvPicPr>
        <p:blipFill>
          <a:blip r:embed="rId3"/>
          <a:srcRect t="16000" b="8000"/>
          <a:stretch>
            <a:fillRect/>
          </a:stretch>
        </p:blipFill>
        <p:spPr>
          <a:xfrm>
            <a:off x="6477000" y="4546600"/>
            <a:ext cx="5105400" cy="1651000"/>
          </a:xfrm>
          <a:prstGeom prst="rect">
            <a:avLst/>
          </a:prstGeom>
          <a:ln>
            <a:noFill/>
          </a:ln>
        </p:spPr>
      </p:pic>
      <p:sp>
        <p:nvSpPr>
          <p:cNvPr id="15" name="img2-border"/>
          <p:cNvSpPr/>
          <p:nvPr/>
        </p:nvSpPr>
        <p:spPr>
          <a:xfrm>
            <a:off x="6477000" y="4546600"/>
            <a:ext cx="5105400" cy="1651000"/>
          </a:xfrm>
          <a:prstGeom prst="rect">
            <a:avLst/>
          </a:prstGeom>
          <a:noFill/>
          <a:ln w="12700">
            <a:solidFill>
              <a:srgbClr val="3D5C48"/>
            </a:solidFill>
          </a:ln>
        </p:spPr>
      </p:sp>
      <p:sp>
        <p:nvSpPr>
          <p:cNvPr id="16" name="tag"/>
          <p:cNvSpPr txBox="1"/>
          <p:nvPr/>
        </p:nvSpPr>
        <p:spPr>
          <a:xfrm>
            <a:off x="609600" y="6502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6DEF70"/>
                </a:solidFill>
                <a:latin typeface="Quattrocento Sans"/>
                <a:ea typeface="Quattrocento Sans"/>
              </a:rPr>
              <a:t>/NEWSLETTERS + /BLOG</a:t>
            </a:r>
            <a:endParaRPr lang="en-US" sz="850" noProof="1"/>
          </a:p>
        </p:txBody>
      </p:sp>
      <p:sp>
        <p:nvSpPr>
          <p:cNvPr id="17" name="footer"/>
          <p:cNvSpPr txBox="1"/>
          <p:nvPr/>
        </p:nvSpPr>
        <p:spPr>
          <a:xfrm>
            <a:off x="5689600" y="6502400"/>
            <a:ext cx="589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WGIC26 — SITE REPORT · SEP 2026</a:t>
            </a:r>
            <a:endParaRPr lang="en-US" sz="8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94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381000"/>
            <a:ext cx="1097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A9B3AD"/>
                </a:solidFill>
                <a:latin typeface="Quattrocento Sans"/>
                <a:ea typeface="Quattrocento Sans"/>
              </a:rPr>
              <a:t>05 — THE CONSISTENCY PASS · SITE REPORT — JUL 29 – SEP 7, 2026</a:t>
            </a:r>
            <a:endParaRPr lang="en-US" sz="1000" noProof="1"/>
          </a:p>
        </p:txBody>
      </p:sp>
      <p:sp>
        <p:nvSpPr>
          <p:cNvPr id="3" name="subtitle"/>
          <p:cNvSpPr txBox="1"/>
          <p:nvPr/>
        </p:nvSpPr>
        <p:spPr>
          <a:xfrm>
            <a:off x="609600" y="660400"/>
            <a:ext cx="787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2100" noProof="1">
                <a:solidFill>
                  <a:srgbClr val="FFFFFF"/>
                </a:solidFill>
                <a:latin typeface="Liter"/>
                <a:ea typeface="Liter"/>
              </a:rPr>
              <a:t>Thirty-five tracked fixes that make the whole site read like one voice.</a:t>
            </a:r>
            <a:endParaRPr lang="en-US" sz="2100" noProof="1"/>
          </a:p>
        </p:txBody>
      </p:sp>
      <p:sp>
        <p:nvSpPr>
          <p:cNvPr id="4" name="rule"/>
          <p:cNvSpPr/>
          <p:nvPr/>
        </p:nvSpPr>
        <p:spPr>
          <a:xfrm>
            <a:off x="609600" y="1549400"/>
            <a:ext cx="10972800" cy="12700"/>
          </a:xfrm>
          <a:prstGeom prst="rect">
            <a:avLst/>
          </a:prstGeom>
          <a:solidFill>
            <a:srgbClr val="3D5C48"/>
          </a:solidFill>
          <a:ln>
            <a:noFill/>
          </a:ln>
        </p:spPr>
      </p:sp>
      <p:sp>
        <p:nvSpPr>
          <p:cNvPr id="5" name="stat1"/>
          <p:cNvSpPr txBox="1"/>
          <p:nvPr/>
        </p:nvSpPr>
        <p:spPr>
          <a:xfrm>
            <a:off x="609600" y="1778000"/>
            <a:ext cx="2286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6DEF70"/>
                </a:solidFill>
                <a:latin typeface="Liter"/>
                <a:ea typeface="Liter"/>
              </a:rPr>
              <a:t>35</a:t>
            </a:r>
            <a:endParaRPr lang="en-US" sz="3000" noProof="1"/>
          </a:p>
        </p:txBody>
      </p:sp>
      <p:sp>
        <p:nvSpPr>
          <p:cNvPr id="6" name="stat1cap"/>
          <p:cNvSpPr txBox="1"/>
          <p:nvPr/>
        </p:nvSpPr>
        <p:spPr>
          <a:xfrm>
            <a:off x="609600" y="23114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TRACKED FIXES SHIPPED IN THIS WINDOW</a:t>
            </a:r>
            <a:endParaRPr lang="en-US" sz="850" noProof="1"/>
          </a:p>
        </p:txBody>
      </p:sp>
      <p:sp>
        <p:nvSpPr>
          <p:cNvPr id="7" name="stat2"/>
          <p:cNvSpPr txBox="1"/>
          <p:nvPr/>
        </p:nvSpPr>
        <p:spPr>
          <a:xfrm>
            <a:off x="3556000" y="1778000"/>
            <a:ext cx="2286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6DEF70"/>
                </a:solidFill>
                <a:latin typeface="Liter"/>
                <a:ea typeface="Liter"/>
              </a:rPr>
              <a:t>6</a:t>
            </a:r>
            <a:endParaRPr lang="en-US" sz="3000" noProof="1"/>
          </a:p>
        </p:txBody>
      </p:sp>
      <p:sp>
        <p:nvSpPr>
          <p:cNvPr id="8" name="stat2cap"/>
          <p:cNvSpPr txBox="1"/>
          <p:nvPr/>
        </p:nvSpPr>
        <p:spPr>
          <a:xfrm>
            <a:off x="3556000" y="23114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LANGUAGES — FR/PT MENUS NO LONGER OVERFLOW THE SCREEN</a:t>
            </a:r>
            <a:endParaRPr lang="en-US" sz="850" noProof="1"/>
          </a:p>
        </p:txBody>
      </p:sp>
      <p:sp>
        <p:nvSpPr>
          <p:cNvPr id="9" name="findings"/>
          <p:cNvSpPr txBox="1"/>
          <p:nvPr/>
        </p:nvSpPr>
        <p:spPr>
          <a:xfrm>
            <a:off x="609600" y="2997200"/>
            <a:ext cx="5461000" cy="335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6DEF70"/>
                </a:solidFill>
                <a:latin typeface="Quattrocento Sans"/>
                <a:ea typeface="Quattrocento Sans"/>
              </a:rPr>
              <a:t>i.</a:t>
            </a: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 Programme → Program everywhere; CTAs unified in green; justified text removed.</a:t>
            </a:r>
            <a:endParaRPr lang="en-US" sz="10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050" noProof="1">
                <a:solidFill>
                  <a:srgbClr val="6DEF70"/>
                </a:solidFill>
                <a:latin typeface="Quattrocento Sans"/>
                <a:ea typeface="Quattrocento Sans"/>
              </a:rPr>
              <a:t>ii.</a:t>
            </a: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 French and Portuguese menus now fit the viewport; mistranslations fixed.</a:t>
            </a:r>
            <a:endParaRPr lang="en-US" sz="10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050" noProof="1">
                <a:solidFill>
                  <a:srgbClr val="6DEF70"/>
                </a:solidFill>
                <a:latin typeface="Quattrocento Sans"/>
                <a:ea typeface="Quattrocento Sans"/>
              </a:rPr>
              <a:t>iii.</a:t>
            </a: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 Workshops grid rebalanced 2+2, one horizontal photo per workshop; extra CTAs removed from Technical Visits and Innovation Day.</a:t>
            </a:r>
            <a:endParaRPr lang="en-US" sz="10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050" noProof="1">
                <a:solidFill>
                  <a:srgbClr val="6DEF70"/>
                </a:solidFill>
                <a:latin typeface="Quattrocento Sans"/>
                <a:ea typeface="Quattrocento Sans"/>
              </a:rPr>
              <a:t>iv.</a:t>
            </a: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 Plan your stay: hotel module out, Catalan cultural-tourism campaign in.</a:t>
            </a:r>
            <a:endParaRPr lang="en-US" sz="10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050" noProof="1">
                <a:solidFill>
                  <a:srgbClr val="6DEF70"/>
                </a:solidFill>
                <a:latin typeface="Quattrocento Sans"/>
                <a:ea typeface="Quattrocento Sans"/>
              </a:rPr>
              <a:t>v.</a:t>
            </a: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 Keynote speakers: alphabetical order, moved ahead of News, larger bios.</a:t>
            </a:r>
            <a:endParaRPr lang="en-US" sz="1050" noProof="1"/>
          </a:p>
        </p:txBody>
      </p:sp>
      <p:sp>
        <p:nvSpPr>
          <p:cNvPr id="10" name="img1-label"/>
          <p:cNvSpPr txBox="1"/>
          <p:nvPr/>
        </p:nvSpPr>
        <p:spPr>
          <a:xfrm>
            <a:off x="6477000" y="1752600"/>
            <a:ext cx="5105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6DEF70"/>
                </a:solidFill>
                <a:latin typeface="Quattrocento Sans"/>
                <a:ea typeface="Quattrocento Sans"/>
              </a:rPr>
              <a:t>WORKSHOPS, REBALANCED 2+2</a:t>
            </a:r>
            <a:endParaRPr lang="en-US" sz="850" noProof="1"/>
          </a:p>
        </p:txBody>
      </p:sp>
      <p:pic>
        <p:nvPicPr>
          <p:cNvPr id="11" name="img1"/>
          <p:cNvPicPr/>
          <p:nvPr/>
        </p:nvPicPr>
        <p:blipFill>
          <a:blip r:embed="rId2"/>
          <a:srcRect t="18000" b="4000"/>
          <a:stretch>
            <a:fillRect/>
          </a:stretch>
        </p:blipFill>
        <p:spPr>
          <a:xfrm>
            <a:off x="6477000" y="1981200"/>
            <a:ext cx="5105400" cy="1905000"/>
          </a:xfrm>
          <a:prstGeom prst="rect">
            <a:avLst/>
          </a:prstGeom>
          <a:ln>
            <a:noFill/>
          </a:ln>
        </p:spPr>
      </p:pic>
      <p:sp>
        <p:nvSpPr>
          <p:cNvPr id="12" name="img1-border"/>
          <p:cNvSpPr/>
          <p:nvPr/>
        </p:nvSpPr>
        <p:spPr>
          <a:xfrm>
            <a:off x="6477000" y="1981200"/>
            <a:ext cx="5105400" cy="1905000"/>
          </a:xfrm>
          <a:prstGeom prst="rect">
            <a:avLst/>
          </a:prstGeom>
          <a:noFill/>
          <a:ln w="12700">
            <a:solidFill>
              <a:srgbClr val="3D5C48"/>
            </a:solidFill>
          </a:ln>
        </p:spPr>
      </p:sp>
      <p:sp>
        <p:nvSpPr>
          <p:cNvPr id="13" name="img2-label"/>
          <p:cNvSpPr txBox="1"/>
          <p:nvPr/>
        </p:nvSpPr>
        <p:spPr>
          <a:xfrm>
            <a:off x="6477000" y="4064000"/>
            <a:ext cx="5105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6DEF70"/>
                </a:solidFill>
                <a:latin typeface="Quattrocento Sans"/>
                <a:ea typeface="Quattrocento Sans"/>
              </a:rPr>
              <a:t>KEYNOTES, ALPHABETICAL + FULLER BIOS</a:t>
            </a:r>
            <a:endParaRPr lang="en-US" sz="850" noProof="1"/>
          </a:p>
        </p:txBody>
      </p:sp>
      <p:pic>
        <p:nvPicPr>
          <p:cNvPr id="14" name="img2"/>
          <p:cNvPicPr/>
          <p:nvPr/>
        </p:nvPicPr>
        <p:blipFill>
          <a:blip r:embed="rId3"/>
          <a:srcRect t="14000" b="6000"/>
          <a:stretch>
            <a:fillRect/>
          </a:stretch>
        </p:blipFill>
        <p:spPr>
          <a:xfrm>
            <a:off x="6477000" y="4292600"/>
            <a:ext cx="5105400" cy="1905000"/>
          </a:xfrm>
          <a:prstGeom prst="rect">
            <a:avLst/>
          </a:prstGeom>
          <a:ln>
            <a:noFill/>
          </a:ln>
        </p:spPr>
      </p:pic>
      <p:sp>
        <p:nvSpPr>
          <p:cNvPr id="15" name="img2-border"/>
          <p:cNvSpPr/>
          <p:nvPr/>
        </p:nvSpPr>
        <p:spPr>
          <a:xfrm>
            <a:off x="6477000" y="4292600"/>
            <a:ext cx="5105400" cy="1905000"/>
          </a:xfrm>
          <a:prstGeom prst="rect">
            <a:avLst/>
          </a:prstGeom>
          <a:noFill/>
          <a:ln w="12700">
            <a:solidFill>
              <a:srgbClr val="3D5C48"/>
            </a:solidFill>
          </a:ln>
        </p:spPr>
      </p:sp>
      <p:sp>
        <p:nvSpPr>
          <p:cNvPr id="16" name="tag"/>
          <p:cNvSpPr txBox="1"/>
          <p:nvPr/>
        </p:nvSpPr>
        <p:spPr>
          <a:xfrm>
            <a:off x="609600" y="6502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150" kern="0">
                <a:solidFill>
                  <a:srgbClr val="6DEF70"/>
                </a:solidFill>
                <a:latin typeface="Quattrocento Sans"/>
                <a:ea typeface="Quattrocento Sans"/>
              </a:rPr>
              <a:t>SITE-WIDE CLEAN-UP</a:t>
            </a:r>
            <a:endParaRPr lang="en-US" sz="850" noProof="1"/>
          </a:p>
        </p:txBody>
      </p:sp>
      <p:sp>
        <p:nvSpPr>
          <p:cNvPr id="17" name="footer"/>
          <p:cNvSpPr txBox="1"/>
          <p:nvPr/>
        </p:nvSpPr>
        <p:spPr>
          <a:xfrm>
            <a:off x="5689600" y="6502400"/>
            <a:ext cx="589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50" noProof="1" spc="150" kern="0">
                <a:solidFill>
                  <a:srgbClr val="A9B3AD"/>
                </a:solidFill>
                <a:latin typeface="Quattrocento Sans"/>
                <a:ea typeface="Quattrocento Sans"/>
              </a:rPr>
              <a:t>WGIC26 — SITE REPORT · SEP 2026</a:t>
            </a:r>
            <a:endParaRPr lang="en-US" sz="8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6</Slides>
</Properties>
</file>

<file path=docProps/core.xml><?xml version="1.0" encoding="utf-8"?>
<cp:coreProperties xmlns:dc="http://purl.org/dc/elements/1.1/" xmlns:cp="http://schemas.openxmlformats.org/package/2006/metadata/core-properties">
  <dc:title>WGIC26 — Site Report · Jul 29 – Sep 7, 2026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