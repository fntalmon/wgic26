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13716000" cx="24387175"/>
  <p:notesSz cx="7099300" cy="10234600"/>
  <p:embeddedFontLs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vP1NCy44B6HwqyFcDzpKKcC7G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010647" y="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n-US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80d0a15e1_0_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e80d0a15e1_0_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e80d0a15e1_0_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80d0a15e1_0_101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e80d0a15e1_0_101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e80d0a15e1_0_101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80d0a15e1_0_17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e80d0a15e1_0_17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e80d0a15e1_0_17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80d0a15e1_0_20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e80d0a15e1_0_20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g3e80d0a15e1_0_20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80d0a15e1_0_229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e80d0a15e1_0_229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g3e80d0a15e1_0_229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9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19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6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6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16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11" Type="http://schemas.openxmlformats.org/officeDocument/2006/relationships/image" Target="../media/image10.png"/><Relationship Id="rId10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2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2" Type="http://schemas.openxmlformats.org/officeDocument/2006/relationships/image" Target="../media/image13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2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12" Type="http://schemas.openxmlformats.org/officeDocument/2006/relationships/image" Target="../media/image11.jp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2" Type="http://schemas.openxmlformats.org/officeDocument/2006/relationships/image" Target="../media/image12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2" Type="http://schemas.openxmlformats.org/officeDocument/2006/relationships/image" Target="../media/image33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image" Target="../media/image27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image" Target="../media/image27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7.png"/><Relationship Id="rId13" Type="http://schemas.openxmlformats.org/officeDocument/2006/relationships/image" Target="../media/image24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7.png"/><Relationship Id="rId13" Type="http://schemas.openxmlformats.org/officeDocument/2006/relationships/image" Target="../media/image24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14" Type="http://schemas.openxmlformats.org/officeDocument/2006/relationships/image" Target="../media/image31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7.png"/><Relationship Id="rId13" Type="http://schemas.openxmlformats.org/officeDocument/2006/relationships/image" Target="../media/image30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7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13" Type="http://schemas.openxmlformats.org/officeDocument/2006/relationships/image" Target="../media/image29.jpg"/><Relationship Id="rId12" Type="http://schemas.openxmlformats.org/officeDocument/2006/relationships/hyperlink" Target="https://www.wgic26.barcelona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312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083060" y="4889500"/>
            <a:ext cx="9475384" cy="2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083050" y="4889500"/>
            <a:ext cx="104286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WGIC26 – </a:t>
            </a:r>
            <a:r>
              <a:rPr b="1" i="0" lang="en-US" sz="60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Congreso Mundial de Infraestructura Verde</a:t>
            </a: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083060" y="6959600"/>
            <a:ext cx="96786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y Lleida, España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083060" y="8967758"/>
            <a:ext cx="8819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Helvetica Neue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Dando forma al futuro de la infraestructura verde en las ciudades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083048" y="10807700"/>
            <a:ext cx="5687400" cy="8256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331336" y="10949504"/>
            <a:ext cx="5439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27-30 de octubre de 2026</a:t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" name="Google Shape;2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94" y="1673969"/>
            <a:ext cx="1826759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" name="Google Shape;2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" name="Google Shape;2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" name="Google Shape;2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28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7720097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" name="Google Shape;3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53" y="2238524"/>
            <a:ext cx="948790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8684475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" name="Google Shape;3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45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9853021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4" name="Google Shape;34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21" y="2360166"/>
            <a:ext cx="1705424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" name="Google Shape;3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083060" y="6616700"/>
            <a:ext cx="8586273" cy="50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6578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2083048" y="7124700"/>
            <a:ext cx="103482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ciudades enfrentan desafíos ambientales sin precedentes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083049" y="9182100"/>
            <a:ext cx="97032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ciudades de todo el mundo se enfrentan a grandes presiones ambientales: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Cambio climático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Inundaciones urbanas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Islas de calor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Pérdida de biodiversidad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59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" name="Google Shape;5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" name="Google Shape;5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2" name="Google Shape;5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28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7720097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" name="Google Shape;5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53" y="2238524"/>
            <a:ext cx="948790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8684475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6" name="Google Shape;5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45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9853021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8" name="Google Shape;58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21" y="2360166"/>
            <a:ext cx="1705424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9" name="Google Shape;59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4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083060" y="4394200"/>
            <a:ext cx="85863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8989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2083048" y="4140200"/>
            <a:ext cx="102042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mercado de infraestructura verde en rápida expansión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083050" y="6654800"/>
            <a:ext cx="106566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Datos clave: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Pacto Verde Europeo moviliza cientos de miles de millones de euros en inversión climática.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Estrategia de la UE sobre Biodiversidad 2030 promueve soluciones basadas en la naturaleza.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ciudades de toda Europa están invirtiendo fuertemente en resiliencia urbana.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083060" y="9969500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Áreas de inversión de ejemplo: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drenaje urbano sostenible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techos y paredes verdes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infraestructura de biodiversidad urbana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espacios públicos adaptados al clima.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7" name="Google Shape;7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9" name="Google Shape;7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1" name="Google Shape;81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3" name="Google Shape;83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" name="Google Shape;84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1663"/>
            <a:ext cx="24387046" cy="1443691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083060" y="5588000"/>
            <a:ext cx="8586273" cy="60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4158129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2083048" y="4419600"/>
            <a:ext cx="824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plataforma global para la infraestructura verde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083060" y="6581558"/>
            <a:ext cx="86880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Congreso Mundial de Infraestructura Verde reúne a: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Investigadores líderes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Gobiernos municipales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Empresas de ingeniería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Agencias ambientales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Empresas de infraestructura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083060" y="9812111"/>
            <a:ext cx="86880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Datos clave: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participación internacional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asistentes de más de 30 países.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9" name="Google Shape;9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" name="Google Shape;10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1" name="Google Shape;10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2" name="Google Shape;10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4" name="Google Shape;10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6" name="Google Shape;10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8" name="Google Shape;10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13243985" y="3929529"/>
            <a:ext cx="8586300" cy="6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43985" y="4120029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13243973" y="4437525"/>
            <a:ext cx="824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audiencia internacional altamente especializada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3243985" y="6723529"/>
            <a:ext cx="8688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Distribución típica de la audiencia: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45–55% Academia e investigación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20–30% Sector privado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15–20% Sector público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3243985" y="9377829"/>
            <a:ext cx="86880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Sectores clave representados: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ingeniería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planificación urbana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arquitectura del paisaje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gestión del agua.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083060" y="7429500"/>
            <a:ext cx="8586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6705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2083060" y="7023100"/>
            <a:ext cx="712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¿Quién asiste al WGIC?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083060" y="8775700"/>
            <a:ext cx="8688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participantes suelen incluir: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planificadores urbanos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agencias ambientales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ingenieros de infraestructura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arquitectos y arquitectos paisajistas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investigadores y expertos en políticas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proveedores de tecnología urbana.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8" name="Google Shape;12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" name="Google Shape;12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0" name="Google Shape;13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2" name="Google Shape;13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4" name="Google Shape;13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6" name="Google Shape;13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7" name="Google Shape;13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8" name="Google Shape;1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2" name="Google Shape;15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4" name="Google Shape;15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6" name="Google Shape;15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2083060" y="3695700"/>
            <a:ext cx="8586300" cy="7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8" name="Google Shape;15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83060" y="3657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2083047" y="3987800"/>
            <a:ext cx="94755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qué no puedes perderte el WGIC26 en Barcelona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083060" y="5829300"/>
            <a:ext cx="868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Año de Gaudí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Capital Mundial de la Arquitectura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083060" y="6896100"/>
            <a:ext cx="8687886" cy="31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talleres interactivos: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083060" y="7942943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 global: diseñando las infraestructuras verdes del sur global a través de una asociación genuina basada en el aprendizaje mutuo, la co-creación de conocimiento y el intercambio equitativo de beneficios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083060" y="9819552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Salud y bienestar: conectando los sectores de la salud y la infraestructura verde. diseñando para conectar con la naturaleza (criterios de biofilia) y evitando el impacto negativo de la falta de naturaleza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083060" y="11264900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Post-conflicto y recuperación de desastres: cómo puede la infraestructura verde contribuir a la recuperación social y ambiental tras situaciones de crisis debidas a conflictos o desastres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ómo visitar La Pedrera (Casa Milà) en Barcelona: tipos de entrada,  precios, horarios, curiosidades y nuestra experiencia - RandomTrip" id="165" name="Google Shape;165;p6"/>
          <p:cNvPicPr preferRelativeResize="0"/>
          <p:nvPr/>
        </p:nvPicPr>
        <p:blipFill rotWithShape="1">
          <a:blip r:embed="rId12">
            <a:alphaModFix/>
          </a:blip>
          <a:srcRect b="0" l="24706" r="19839" t="0"/>
          <a:stretch/>
        </p:blipFill>
        <p:spPr>
          <a:xfrm>
            <a:off x="12981172" y="0"/>
            <a:ext cx="11403795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083060" y="4978400"/>
            <a:ext cx="8586273" cy="66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4" name="Google Shape;1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9497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2083047" y="4191000"/>
            <a:ext cx="90336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Barcelona: un laboratorio vivo para ciudades sostenibles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083060" y="7065433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es reconocida globalmente por su liderazgo en: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planificación urbana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movilidad sostenible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estrategias de adaptación al clima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soluciones basadas en la naturaleza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083060" y="9994900"/>
            <a:ext cx="868788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iniciativas clave incluyen: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supermanzanas (superilles)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 de la naturaleza de barcelona 2030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iniciativas de infraestructura azul-verde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1" name="Google Shape;18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2" name="Google Shape;18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3" name="Google Shape;18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5" name="Google Shape;18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7" name="Google Shape;18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9" name="Google Shape;18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0" name="Google Shape;19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101176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083060" y="5243525"/>
            <a:ext cx="85863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99" name="Google Shape;1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5205425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2083060" y="5522925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qué las empresas patrocinan el WGIC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083060" y="7885125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Beneficios: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posicionamiento como líder en infraestructura sostenible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acceso a tomadores de decisiones internacionales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 de presentar tecnologías y proyectos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desarrollo de negocios y asociaciones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4" name="Google Shape;2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5" name="Google Shape;20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6" name="Google Shape;2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9" name="Google Shape;20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1" name="Google Shape;21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3" name="Google Shape;21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3147300" y="5219700"/>
            <a:ext cx="8586300" cy="48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7300" y="5181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13147300" y="5499100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Múltiples oportunidades para la interacción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3147300" y="8242300"/>
            <a:ext cx="8688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patrocinadores ganan visibilidad a través de: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sesiones plenarias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paneles patrocinados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estands de exposición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recepciones de networking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cena de gala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visitas técnicas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2083060" y="5778500"/>
            <a:ext cx="85863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26" name="Google Shape;2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6197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2083060" y="6591300"/>
            <a:ext cx="8103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Visibilidad de marca para patrocinadores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083060" y="9182100"/>
            <a:ext cx="8687886" cy="24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Ejemplos: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 en el escenario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presencia en la exposición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 del programa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promoción en el sitio web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exposición en marketing digital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1" name="Google Shape;23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18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" name="Google Shape;23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4" name="Google Shape;23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6" name="Google Shape;23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8" name="Google Shape;23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9853008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0" name="Google Shape;24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08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nue images 1" id="241" name="Google Shape;241;p9"/>
          <p:cNvPicPr preferRelativeResize="0"/>
          <p:nvPr/>
        </p:nvPicPr>
        <p:blipFill rotWithShape="1">
          <a:blip r:embed="rId12">
            <a:alphaModFix/>
          </a:blip>
          <a:srcRect b="0" l="7871" r="5469" t="0"/>
          <a:stretch/>
        </p:blipFill>
        <p:spPr>
          <a:xfrm>
            <a:off x="12958503" y="0"/>
            <a:ext cx="1140095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7" name="Google Shape;247;g3e80d0a15e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6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80d0a15e1_0_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80d0a15e1_0_0"/>
          <p:cNvSpPr/>
          <p:nvPr/>
        </p:nvSpPr>
        <p:spPr>
          <a:xfrm>
            <a:off x="2083073" y="3975100"/>
            <a:ext cx="8586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0" name="Google Shape;250;g3e80d0a15e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937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e80d0a15e1_0_0"/>
          <p:cNvSpPr/>
          <p:nvPr/>
        </p:nvSpPr>
        <p:spPr>
          <a:xfrm>
            <a:off x="2083073" y="4330700"/>
            <a:ext cx="712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Paquetes de patrocinio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80d0a15e1_0_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80d0a15e1_0_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4" name="Google Shape;254;g3e80d0a15e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06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5" name="Google Shape;255;g3e80d0a15e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6" name="Google Shape;256;g3e80d0a15e1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7" name="Google Shape;257;g3e80d0a15e1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e80d0a15e1_0_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9" name="Google Shape;259;g3e80d0a15e1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e80d0a15e1_0_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61" name="Google Shape;261;g3e80d0a15e1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e80d0a15e1_0_0"/>
          <p:cNvSpPr/>
          <p:nvPr/>
        </p:nvSpPr>
        <p:spPr>
          <a:xfrm>
            <a:off x="9853094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63" name="Google Shape;263;g3e80d0a15e1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94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e80d0a15e1_0_0"/>
          <p:cNvSpPr/>
          <p:nvPr/>
        </p:nvSpPr>
        <p:spPr>
          <a:xfrm>
            <a:off x="2083073" y="5689600"/>
            <a:ext cx="4001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80d0a15e1_0_0"/>
          <p:cNvSpPr/>
          <p:nvPr/>
        </p:nvSpPr>
        <p:spPr>
          <a:xfrm>
            <a:off x="2337098" y="5943925"/>
            <a:ext cx="1951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CATEGORÍA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80d0a15e1_0_0"/>
          <p:cNvSpPr/>
          <p:nvPr/>
        </p:nvSpPr>
        <p:spPr>
          <a:xfrm>
            <a:off x="6134905" y="5689600"/>
            <a:ext cx="40137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80d0a15e1_0_0"/>
          <p:cNvSpPr/>
          <p:nvPr/>
        </p:nvSpPr>
        <p:spPr>
          <a:xfrm>
            <a:off x="6388954" y="5956625"/>
            <a:ext cx="3124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DIAMANTE 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(EXCLUSIVO)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80d0a15e1_0_0"/>
          <p:cNvSpPr/>
          <p:nvPr/>
        </p:nvSpPr>
        <p:spPr>
          <a:xfrm>
            <a:off x="10199438" y="5689600"/>
            <a:ext cx="39882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80d0a15e1_0_0"/>
          <p:cNvSpPr/>
          <p:nvPr/>
        </p:nvSpPr>
        <p:spPr>
          <a:xfrm>
            <a:off x="10453476" y="5943925"/>
            <a:ext cx="1773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ESMERALDA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80d0a15e1_0_0"/>
          <p:cNvSpPr/>
          <p:nvPr/>
        </p:nvSpPr>
        <p:spPr>
          <a:xfrm>
            <a:off x="14238568" y="5689600"/>
            <a:ext cx="40137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80d0a15e1_0_0"/>
          <p:cNvSpPr/>
          <p:nvPr/>
        </p:nvSpPr>
        <p:spPr>
          <a:xfrm>
            <a:off x="14492600" y="5943925"/>
            <a:ext cx="1367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PLATINO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80d0a15e1_0_0"/>
          <p:cNvSpPr/>
          <p:nvPr/>
        </p:nvSpPr>
        <p:spPr>
          <a:xfrm>
            <a:off x="18303101" y="5689600"/>
            <a:ext cx="4001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80d0a15e1_0_0"/>
          <p:cNvSpPr/>
          <p:nvPr/>
        </p:nvSpPr>
        <p:spPr>
          <a:xfrm>
            <a:off x="18557133" y="5943925"/>
            <a:ext cx="808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e80d0a15e1_0_0"/>
          <p:cNvSpPr/>
          <p:nvPr/>
        </p:nvSpPr>
        <p:spPr>
          <a:xfrm>
            <a:off x="2083073" y="64643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80d0a15e1_0_0"/>
          <p:cNvSpPr/>
          <p:nvPr/>
        </p:nvSpPr>
        <p:spPr>
          <a:xfrm>
            <a:off x="2337106" y="6699575"/>
            <a:ext cx="1342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80d0a15e1_0_0"/>
          <p:cNvSpPr/>
          <p:nvPr/>
        </p:nvSpPr>
        <p:spPr>
          <a:xfrm>
            <a:off x="2083073" y="72009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80d0a15e1_0_0"/>
          <p:cNvSpPr/>
          <p:nvPr/>
        </p:nvSpPr>
        <p:spPr>
          <a:xfrm>
            <a:off x="2337096" y="74488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Pases para el congreso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e80d0a15e1_0_0"/>
          <p:cNvSpPr/>
          <p:nvPr/>
        </p:nvSpPr>
        <p:spPr>
          <a:xfrm>
            <a:off x="2083073" y="79629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80d0a15e1_0_0"/>
          <p:cNvSpPr/>
          <p:nvPr/>
        </p:nvSpPr>
        <p:spPr>
          <a:xfrm>
            <a:off x="2337096" y="8198175"/>
            <a:ext cx="3615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Entradas para la cena de gala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80d0a15e1_0_0"/>
          <p:cNvSpPr/>
          <p:nvPr/>
        </p:nvSpPr>
        <p:spPr>
          <a:xfrm>
            <a:off x="2083073" y="86995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80d0a15e1_0_0"/>
          <p:cNvSpPr/>
          <p:nvPr/>
        </p:nvSpPr>
        <p:spPr>
          <a:xfrm>
            <a:off x="2337098" y="8934775"/>
            <a:ext cx="3449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 para disertar (*)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80d0a15e1_0_0"/>
          <p:cNvSpPr/>
          <p:nvPr/>
        </p:nvSpPr>
        <p:spPr>
          <a:xfrm>
            <a:off x="2083073" y="94361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e80d0a15e1_0_0"/>
          <p:cNvSpPr/>
          <p:nvPr/>
        </p:nvSpPr>
        <p:spPr>
          <a:xfrm>
            <a:off x="2337094" y="9796134"/>
            <a:ext cx="3237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Derechos de denominación (Naming rights)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80d0a15e1_0_0"/>
          <p:cNvSpPr/>
          <p:nvPr/>
        </p:nvSpPr>
        <p:spPr>
          <a:xfrm>
            <a:off x="2083073" y="101981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e80d0a15e1_0_0"/>
          <p:cNvSpPr/>
          <p:nvPr/>
        </p:nvSpPr>
        <p:spPr>
          <a:xfrm>
            <a:off x="2337096" y="104333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Presencia de marca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80d0a15e1_0_0"/>
          <p:cNvSpPr/>
          <p:nvPr/>
        </p:nvSpPr>
        <p:spPr>
          <a:xfrm>
            <a:off x="2083073" y="10934700"/>
            <a:ext cx="4001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e80d0a15e1_0_0"/>
          <p:cNvSpPr/>
          <p:nvPr/>
        </p:nvSpPr>
        <p:spPr>
          <a:xfrm>
            <a:off x="2337106" y="11176325"/>
            <a:ext cx="1773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 incluido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80d0a15e1_0_0"/>
          <p:cNvSpPr/>
          <p:nvPr/>
        </p:nvSpPr>
        <p:spPr>
          <a:xfrm>
            <a:off x="6134905" y="64643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e80d0a15e1_0_0"/>
          <p:cNvSpPr/>
          <p:nvPr/>
        </p:nvSpPr>
        <p:spPr>
          <a:xfrm>
            <a:off x="6388962" y="6699575"/>
            <a:ext cx="1951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80d0a15e1_0_0"/>
          <p:cNvSpPr/>
          <p:nvPr/>
        </p:nvSpPr>
        <p:spPr>
          <a:xfrm>
            <a:off x="6134905" y="72009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e80d0a15e1_0_0"/>
          <p:cNvSpPr/>
          <p:nvPr/>
        </p:nvSpPr>
        <p:spPr>
          <a:xfrm>
            <a:off x="6388957" y="7448875"/>
            <a:ext cx="2645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e80d0a15e1_0_0"/>
          <p:cNvSpPr/>
          <p:nvPr/>
        </p:nvSpPr>
        <p:spPr>
          <a:xfrm>
            <a:off x="6134905" y="79629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80d0a15e1_0_0"/>
          <p:cNvSpPr/>
          <p:nvPr/>
        </p:nvSpPr>
        <p:spPr>
          <a:xfrm>
            <a:off x="6388958" y="8198175"/>
            <a:ext cx="2057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Entradas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80d0a15e1_0_0"/>
          <p:cNvSpPr/>
          <p:nvPr/>
        </p:nvSpPr>
        <p:spPr>
          <a:xfrm>
            <a:off x="6134905" y="86995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80d0a15e1_0_0"/>
          <p:cNvSpPr/>
          <p:nvPr/>
        </p:nvSpPr>
        <p:spPr>
          <a:xfrm>
            <a:off x="6388971" y="8934775"/>
            <a:ext cx="2819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80d0a15e1_0_0"/>
          <p:cNvSpPr/>
          <p:nvPr/>
        </p:nvSpPr>
        <p:spPr>
          <a:xfrm>
            <a:off x="6134905" y="94361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e80d0a15e1_0_0"/>
          <p:cNvSpPr/>
          <p:nvPr/>
        </p:nvSpPr>
        <p:spPr>
          <a:xfrm>
            <a:off x="6388958" y="96840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Auditorio Principal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80d0a15e1_0_0"/>
          <p:cNvSpPr/>
          <p:nvPr/>
        </p:nvSpPr>
        <p:spPr>
          <a:xfrm>
            <a:off x="6134905" y="101981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e80d0a15e1_0_0"/>
          <p:cNvSpPr/>
          <p:nvPr/>
        </p:nvSpPr>
        <p:spPr>
          <a:xfrm>
            <a:off x="6388938" y="10433375"/>
            <a:ext cx="2142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Máximo (Global)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e80d0a15e1_0_0"/>
          <p:cNvSpPr/>
          <p:nvPr/>
        </p:nvSpPr>
        <p:spPr>
          <a:xfrm>
            <a:off x="6134905" y="10934700"/>
            <a:ext cx="40137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e80d0a15e1_0_0"/>
          <p:cNvSpPr/>
          <p:nvPr/>
        </p:nvSpPr>
        <p:spPr>
          <a:xfrm>
            <a:off x="6388953" y="1117632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Premium (Grande 4*4m)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80d0a15e1_0_0"/>
          <p:cNvSpPr/>
          <p:nvPr/>
        </p:nvSpPr>
        <p:spPr>
          <a:xfrm>
            <a:off x="10199438" y="64643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e80d0a15e1_0_0"/>
          <p:cNvSpPr/>
          <p:nvPr/>
        </p:nvSpPr>
        <p:spPr>
          <a:xfrm>
            <a:off x="10453479" y="6699575"/>
            <a:ext cx="1939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e80d0a15e1_0_0"/>
          <p:cNvSpPr/>
          <p:nvPr/>
        </p:nvSpPr>
        <p:spPr>
          <a:xfrm>
            <a:off x="10199438" y="7200900"/>
            <a:ext cx="39882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e80d0a15e1_0_0"/>
          <p:cNvSpPr/>
          <p:nvPr/>
        </p:nvSpPr>
        <p:spPr>
          <a:xfrm>
            <a:off x="10453478" y="7448875"/>
            <a:ext cx="2819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80d0a15e1_0_0"/>
          <p:cNvSpPr/>
          <p:nvPr/>
        </p:nvSpPr>
        <p:spPr>
          <a:xfrm>
            <a:off x="10199438" y="79629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e80d0a15e1_0_0"/>
          <p:cNvSpPr/>
          <p:nvPr/>
        </p:nvSpPr>
        <p:spPr>
          <a:xfrm>
            <a:off x="10453479" y="8198175"/>
            <a:ext cx="2142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Entradas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e80d0a15e1_0_0"/>
          <p:cNvSpPr/>
          <p:nvPr/>
        </p:nvSpPr>
        <p:spPr>
          <a:xfrm>
            <a:off x="10199438" y="86995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80d0a15e1_0_0"/>
          <p:cNvSpPr/>
          <p:nvPr/>
        </p:nvSpPr>
        <p:spPr>
          <a:xfrm>
            <a:off x="10453476" y="8934775"/>
            <a:ext cx="3124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80d0a15e1_0_0"/>
          <p:cNvSpPr/>
          <p:nvPr/>
        </p:nvSpPr>
        <p:spPr>
          <a:xfrm>
            <a:off x="10199438" y="9436100"/>
            <a:ext cx="39882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e80d0a15e1_0_0"/>
          <p:cNvSpPr/>
          <p:nvPr/>
        </p:nvSpPr>
        <p:spPr>
          <a:xfrm>
            <a:off x="10453471" y="9684075"/>
            <a:ext cx="1735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 Paralela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80d0a15e1_0_0"/>
          <p:cNvSpPr/>
          <p:nvPr/>
        </p:nvSpPr>
        <p:spPr>
          <a:xfrm>
            <a:off x="10199438" y="101981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80d0a15e1_0_0"/>
          <p:cNvSpPr/>
          <p:nvPr/>
        </p:nvSpPr>
        <p:spPr>
          <a:xfrm>
            <a:off x="10453477" y="10433375"/>
            <a:ext cx="23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Alta Visibilidad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80d0a15e1_0_0"/>
          <p:cNvSpPr/>
          <p:nvPr/>
        </p:nvSpPr>
        <p:spPr>
          <a:xfrm>
            <a:off x="10199438" y="10934700"/>
            <a:ext cx="39882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e80d0a15e1_0_0"/>
          <p:cNvSpPr/>
          <p:nvPr/>
        </p:nvSpPr>
        <p:spPr>
          <a:xfrm>
            <a:off x="10453471" y="11176325"/>
            <a:ext cx="1837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Mediano (3*3m)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80d0a15e1_0_0"/>
          <p:cNvSpPr/>
          <p:nvPr/>
        </p:nvSpPr>
        <p:spPr>
          <a:xfrm>
            <a:off x="14238568" y="64643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e80d0a15e1_0_0"/>
          <p:cNvSpPr/>
          <p:nvPr/>
        </p:nvSpPr>
        <p:spPr>
          <a:xfrm>
            <a:off x="14492600" y="6699575"/>
            <a:ext cx="1475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e80d0a15e1_0_0"/>
          <p:cNvSpPr/>
          <p:nvPr/>
        </p:nvSpPr>
        <p:spPr>
          <a:xfrm>
            <a:off x="14238568" y="72009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e80d0a15e1_0_0"/>
          <p:cNvSpPr/>
          <p:nvPr/>
        </p:nvSpPr>
        <p:spPr>
          <a:xfrm>
            <a:off x="14492600" y="7448875"/>
            <a:ext cx="23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e80d0a15e1_0_0"/>
          <p:cNvSpPr/>
          <p:nvPr/>
        </p:nvSpPr>
        <p:spPr>
          <a:xfrm>
            <a:off x="14238568" y="79629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e80d0a15e1_0_0"/>
          <p:cNvSpPr/>
          <p:nvPr/>
        </p:nvSpPr>
        <p:spPr>
          <a:xfrm>
            <a:off x="14492600" y="8198175"/>
            <a:ext cx="1826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Entradas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e80d0a15e1_0_0"/>
          <p:cNvSpPr/>
          <p:nvPr/>
        </p:nvSpPr>
        <p:spPr>
          <a:xfrm>
            <a:off x="14238568" y="86995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e80d0a15e1_0_0"/>
          <p:cNvSpPr/>
          <p:nvPr/>
        </p:nvSpPr>
        <p:spPr>
          <a:xfrm>
            <a:off x="14492600" y="8934775"/>
            <a:ext cx="2421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e80d0a15e1_0_0"/>
          <p:cNvSpPr/>
          <p:nvPr/>
        </p:nvSpPr>
        <p:spPr>
          <a:xfrm>
            <a:off x="14238568" y="94361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e80d0a15e1_0_0"/>
          <p:cNvSpPr/>
          <p:nvPr/>
        </p:nvSpPr>
        <p:spPr>
          <a:xfrm>
            <a:off x="14492600" y="968407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e80d0a15e1_0_0"/>
          <p:cNvSpPr/>
          <p:nvPr/>
        </p:nvSpPr>
        <p:spPr>
          <a:xfrm>
            <a:off x="14238568" y="101981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e80d0a15e1_0_0"/>
          <p:cNvSpPr/>
          <p:nvPr/>
        </p:nvSpPr>
        <p:spPr>
          <a:xfrm>
            <a:off x="14492600" y="10433375"/>
            <a:ext cx="1126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Estándar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e80d0a15e1_0_0"/>
          <p:cNvSpPr/>
          <p:nvPr/>
        </p:nvSpPr>
        <p:spPr>
          <a:xfrm>
            <a:off x="14238568" y="10934700"/>
            <a:ext cx="40137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e80d0a15e1_0_0"/>
          <p:cNvSpPr/>
          <p:nvPr/>
        </p:nvSpPr>
        <p:spPr>
          <a:xfrm>
            <a:off x="14492600" y="11176325"/>
            <a:ext cx="3237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Compacto (módulo 2*2m)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80d0a15e1_0_0"/>
          <p:cNvSpPr/>
          <p:nvPr/>
        </p:nvSpPr>
        <p:spPr>
          <a:xfrm>
            <a:off x="18303101" y="64643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80d0a15e1_0_0"/>
          <p:cNvSpPr/>
          <p:nvPr/>
        </p:nvSpPr>
        <p:spPr>
          <a:xfrm>
            <a:off x="18557121" y="6699575"/>
            <a:ext cx="1263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80d0a15e1_0_0"/>
          <p:cNvSpPr/>
          <p:nvPr/>
        </p:nvSpPr>
        <p:spPr>
          <a:xfrm>
            <a:off x="18303101" y="72009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80d0a15e1_0_0"/>
          <p:cNvSpPr/>
          <p:nvPr/>
        </p:nvSpPr>
        <p:spPr>
          <a:xfrm>
            <a:off x="18557120" y="7448875"/>
            <a:ext cx="2551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e80d0a15e1_0_0"/>
          <p:cNvSpPr/>
          <p:nvPr/>
        </p:nvSpPr>
        <p:spPr>
          <a:xfrm>
            <a:off x="18303101" y="79629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e80d0a15e1_0_0"/>
          <p:cNvSpPr/>
          <p:nvPr/>
        </p:nvSpPr>
        <p:spPr>
          <a:xfrm>
            <a:off x="18557123" y="8198175"/>
            <a:ext cx="1126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Entrada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e80d0a15e1_0_0"/>
          <p:cNvSpPr/>
          <p:nvPr/>
        </p:nvSpPr>
        <p:spPr>
          <a:xfrm>
            <a:off x="18303101" y="86995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e80d0a15e1_0_0"/>
          <p:cNvSpPr/>
          <p:nvPr/>
        </p:nvSpPr>
        <p:spPr>
          <a:xfrm>
            <a:off x="18557125" y="8934775"/>
            <a:ext cx="2421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80d0a15e1_0_0"/>
          <p:cNvSpPr/>
          <p:nvPr/>
        </p:nvSpPr>
        <p:spPr>
          <a:xfrm>
            <a:off x="18303101" y="94361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e80d0a15e1_0_0"/>
          <p:cNvSpPr/>
          <p:nvPr/>
        </p:nvSpPr>
        <p:spPr>
          <a:xfrm>
            <a:off x="18557133" y="968407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80d0a15e1_0_0"/>
          <p:cNvSpPr/>
          <p:nvPr/>
        </p:nvSpPr>
        <p:spPr>
          <a:xfrm>
            <a:off x="18303101" y="101981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80d0a15e1_0_0"/>
          <p:cNvSpPr/>
          <p:nvPr/>
        </p:nvSpPr>
        <p:spPr>
          <a:xfrm>
            <a:off x="18557133" y="10433375"/>
            <a:ext cx="1380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Solo Digital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80d0a15e1_0_0"/>
          <p:cNvSpPr/>
          <p:nvPr/>
        </p:nvSpPr>
        <p:spPr>
          <a:xfrm>
            <a:off x="18303101" y="10934700"/>
            <a:ext cx="4001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80d0a15e1_0_0"/>
          <p:cNvSpPr/>
          <p:nvPr/>
        </p:nvSpPr>
        <p:spPr>
          <a:xfrm>
            <a:off x="18557133" y="1117632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80d0a15e1_0_0"/>
          <p:cNvSpPr/>
          <p:nvPr/>
        </p:nvSpPr>
        <p:spPr>
          <a:xfrm>
            <a:off x="2082998" y="12211225"/>
            <a:ext cx="2022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 Las oportunidades para disertar están sujetas a disponibilidad y a la confirmación final del organizador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50" name="Google Shape;350;g3e80d0a15e1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6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e80d0a15e1_0_101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80d0a15e1_0_101"/>
          <p:cNvSpPr/>
          <p:nvPr/>
        </p:nvSpPr>
        <p:spPr>
          <a:xfrm>
            <a:off x="2083073" y="3975100"/>
            <a:ext cx="8586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3" name="Google Shape;353;g3e80d0a15e1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937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e80d0a15e1_0_101"/>
          <p:cNvSpPr/>
          <p:nvPr/>
        </p:nvSpPr>
        <p:spPr>
          <a:xfrm>
            <a:off x="2083076" y="4330700"/>
            <a:ext cx="10693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Complementos de Patrocinio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80d0a15e1_0_101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80d0a15e1_0_101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7" name="Google Shape;357;g3e80d0a15e1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06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8" name="Google Shape;358;g3e80d0a15e1_0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9" name="Google Shape;359;g3e80d0a15e1_0_1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0" name="Google Shape;360;g3e80d0a15e1_0_1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e80d0a15e1_0_101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2" name="Google Shape;362;g3e80d0a15e1_0_1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e80d0a15e1_0_101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4" name="Google Shape;364;g3e80d0a15e1_0_1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e80d0a15e1_0_101"/>
          <p:cNvSpPr/>
          <p:nvPr/>
        </p:nvSpPr>
        <p:spPr>
          <a:xfrm>
            <a:off x="9853094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6" name="Google Shape;366;g3e80d0a15e1_0_10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94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e80d0a15e1_0_101"/>
          <p:cNvSpPr/>
          <p:nvPr/>
        </p:nvSpPr>
        <p:spPr>
          <a:xfrm>
            <a:off x="2083073" y="5689600"/>
            <a:ext cx="67065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80d0a15e1_0_101"/>
          <p:cNvSpPr/>
          <p:nvPr/>
        </p:nvSpPr>
        <p:spPr>
          <a:xfrm>
            <a:off x="2337106" y="5943925"/>
            <a:ext cx="707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80d0a15e1_0_101"/>
          <p:cNvSpPr/>
          <p:nvPr/>
        </p:nvSpPr>
        <p:spPr>
          <a:xfrm>
            <a:off x="8840359" y="5689600"/>
            <a:ext cx="6719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80d0a15e1_0_101"/>
          <p:cNvSpPr/>
          <p:nvPr/>
        </p:nvSpPr>
        <p:spPr>
          <a:xfrm>
            <a:off x="9094405" y="594392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80d0a15e1_0_101"/>
          <p:cNvSpPr/>
          <p:nvPr/>
        </p:nvSpPr>
        <p:spPr>
          <a:xfrm>
            <a:off x="15610347" y="5689600"/>
            <a:ext cx="66936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80d0a15e1_0_101"/>
          <p:cNvSpPr/>
          <p:nvPr/>
        </p:nvSpPr>
        <p:spPr>
          <a:xfrm>
            <a:off x="15864370" y="5943925"/>
            <a:ext cx="3087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DISPONIBILIDAD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80d0a15e1_0_101"/>
          <p:cNvSpPr/>
          <p:nvPr/>
        </p:nvSpPr>
        <p:spPr>
          <a:xfrm>
            <a:off x="2083073" y="64643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e80d0a15e1_0_101"/>
          <p:cNvSpPr/>
          <p:nvPr/>
        </p:nvSpPr>
        <p:spPr>
          <a:xfrm>
            <a:off x="2337100" y="6699575"/>
            <a:ext cx="5773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Derechos de nombramiento para la cena de gala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80d0a15e1_0_101"/>
          <p:cNvSpPr/>
          <p:nvPr/>
        </p:nvSpPr>
        <p:spPr>
          <a:xfrm>
            <a:off x="2083073" y="7200900"/>
            <a:ext cx="67065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e80d0a15e1_0_101"/>
          <p:cNvSpPr/>
          <p:nvPr/>
        </p:nvSpPr>
        <p:spPr>
          <a:xfrm>
            <a:off x="2337096" y="7448875"/>
            <a:ext cx="4400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Aplicación Oficial del Congreso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80d0a15e1_0_101"/>
          <p:cNvSpPr/>
          <p:nvPr/>
        </p:nvSpPr>
        <p:spPr>
          <a:xfrm>
            <a:off x="2083073" y="79629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e80d0a15e1_0_101"/>
          <p:cNvSpPr/>
          <p:nvPr/>
        </p:nvSpPr>
        <p:spPr>
          <a:xfrm>
            <a:off x="2337097" y="81981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Lanyards y Credenciales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e80d0a15e1_0_101"/>
          <p:cNvSpPr/>
          <p:nvPr/>
        </p:nvSpPr>
        <p:spPr>
          <a:xfrm>
            <a:off x="2083073" y="86995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e80d0a15e1_0_101"/>
          <p:cNvSpPr/>
          <p:nvPr/>
        </p:nvSpPr>
        <p:spPr>
          <a:xfrm>
            <a:off x="2337100" y="8934775"/>
            <a:ext cx="5661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Patrocinador de Pausa para Café (por día)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e80d0a15e1_0_101"/>
          <p:cNvSpPr/>
          <p:nvPr/>
        </p:nvSpPr>
        <p:spPr>
          <a:xfrm>
            <a:off x="2083073" y="9436100"/>
            <a:ext cx="67065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e80d0a15e1_0_101"/>
          <p:cNvSpPr/>
          <p:nvPr/>
        </p:nvSpPr>
        <p:spPr>
          <a:xfrm>
            <a:off x="2337106" y="9684075"/>
            <a:ext cx="3590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Visitas Técnicas (BCN o Lleida)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80d0a15e1_0_101"/>
          <p:cNvSpPr/>
          <p:nvPr/>
        </p:nvSpPr>
        <p:spPr>
          <a:xfrm>
            <a:off x="2083073" y="101981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e80d0a15e1_0_101"/>
          <p:cNvSpPr/>
          <p:nvPr/>
        </p:nvSpPr>
        <p:spPr>
          <a:xfrm>
            <a:off x="2337098" y="10433375"/>
            <a:ext cx="4400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Anuncio de página completa en Actas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80d0a15e1_0_101"/>
          <p:cNvSpPr/>
          <p:nvPr/>
        </p:nvSpPr>
        <p:spPr>
          <a:xfrm>
            <a:off x="2083073" y="10934700"/>
            <a:ext cx="67065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e80d0a15e1_0_101"/>
          <p:cNvSpPr/>
          <p:nvPr/>
        </p:nvSpPr>
        <p:spPr>
          <a:xfrm>
            <a:off x="2337099" y="11176325"/>
            <a:ext cx="3728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Entrevista en Video Producida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80d0a15e1_0_101"/>
          <p:cNvSpPr/>
          <p:nvPr/>
        </p:nvSpPr>
        <p:spPr>
          <a:xfrm>
            <a:off x="8840359" y="64643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e80d0a15e1_0_101"/>
          <p:cNvSpPr/>
          <p:nvPr/>
        </p:nvSpPr>
        <p:spPr>
          <a:xfrm>
            <a:off x="9094404" y="66995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80d0a15e1_0_101"/>
          <p:cNvSpPr/>
          <p:nvPr/>
        </p:nvSpPr>
        <p:spPr>
          <a:xfrm>
            <a:off x="8840359" y="7200900"/>
            <a:ext cx="6719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e80d0a15e1_0_101"/>
          <p:cNvSpPr/>
          <p:nvPr/>
        </p:nvSpPr>
        <p:spPr>
          <a:xfrm>
            <a:off x="9094403" y="7448875"/>
            <a:ext cx="141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80d0a15e1_0_101"/>
          <p:cNvSpPr/>
          <p:nvPr/>
        </p:nvSpPr>
        <p:spPr>
          <a:xfrm>
            <a:off x="8840359" y="79629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e80d0a15e1_0_101"/>
          <p:cNvSpPr/>
          <p:nvPr/>
        </p:nvSpPr>
        <p:spPr>
          <a:xfrm>
            <a:off x="9094405" y="81981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80d0a15e1_0_101"/>
          <p:cNvSpPr/>
          <p:nvPr/>
        </p:nvSpPr>
        <p:spPr>
          <a:xfrm>
            <a:off x="8840359" y="86995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e80d0a15e1_0_101"/>
          <p:cNvSpPr/>
          <p:nvPr/>
        </p:nvSpPr>
        <p:spPr>
          <a:xfrm>
            <a:off x="9094405" y="8934775"/>
            <a:ext cx="141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80d0a15e1_0_101"/>
          <p:cNvSpPr/>
          <p:nvPr/>
        </p:nvSpPr>
        <p:spPr>
          <a:xfrm>
            <a:off x="8840359" y="9436100"/>
            <a:ext cx="6719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e80d0a15e1_0_101"/>
          <p:cNvSpPr/>
          <p:nvPr/>
        </p:nvSpPr>
        <p:spPr>
          <a:xfrm>
            <a:off x="9094406" y="9684075"/>
            <a:ext cx="1587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80d0a15e1_0_101"/>
          <p:cNvSpPr/>
          <p:nvPr/>
        </p:nvSpPr>
        <p:spPr>
          <a:xfrm>
            <a:off x="8840359" y="101981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e80d0a15e1_0_101"/>
          <p:cNvSpPr/>
          <p:nvPr/>
        </p:nvSpPr>
        <p:spPr>
          <a:xfrm>
            <a:off x="9094407" y="10433375"/>
            <a:ext cx="1705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80d0a15e1_0_101"/>
          <p:cNvSpPr/>
          <p:nvPr/>
        </p:nvSpPr>
        <p:spPr>
          <a:xfrm>
            <a:off x="8840359" y="10934700"/>
            <a:ext cx="6719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e80d0a15e1_0_101"/>
          <p:cNvSpPr/>
          <p:nvPr/>
        </p:nvSpPr>
        <p:spPr>
          <a:xfrm>
            <a:off x="9094405" y="1117632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2.500 €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80d0a15e1_0_101"/>
          <p:cNvSpPr/>
          <p:nvPr/>
        </p:nvSpPr>
        <p:spPr>
          <a:xfrm>
            <a:off x="15610347" y="64643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e80d0a15e1_0_101"/>
          <p:cNvSpPr/>
          <p:nvPr/>
        </p:nvSpPr>
        <p:spPr>
          <a:xfrm>
            <a:off x="15864381" y="66995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(Exclusivo)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80d0a15e1_0_101"/>
          <p:cNvSpPr/>
          <p:nvPr/>
        </p:nvSpPr>
        <p:spPr>
          <a:xfrm>
            <a:off x="15610347" y="7200900"/>
            <a:ext cx="66936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e80d0a15e1_0_101"/>
          <p:cNvSpPr/>
          <p:nvPr/>
        </p:nvSpPr>
        <p:spPr>
          <a:xfrm>
            <a:off x="15864381" y="74488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(Exclusivo)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80d0a15e1_0_101"/>
          <p:cNvSpPr/>
          <p:nvPr/>
        </p:nvSpPr>
        <p:spPr>
          <a:xfrm>
            <a:off x="15610347" y="79629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e80d0a15e1_0_101"/>
          <p:cNvSpPr/>
          <p:nvPr/>
        </p:nvSpPr>
        <p:spPr>
          <a:xfrm>
            <a:off x="15864381" y="81981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(Exclusivo)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80d0a15e1_0_101"/>
          <p:cNvSpPr/>
          <p:nvPr/>
        </p:nvSpPr>
        <p:spPr>
          <a:xfrm>
            <a:off x="15610347" y="86995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e80d0a15e1_0_101"/>
          <p:cNvSpPr/>
          <p:nvPr/>
        </p:nvSpPr>
        <p:spPr>
          <a:xfrm>
            <a:off x="15864371" y="8934775"/>
            <a:ext cx="205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disponibles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80d0a15e1_0_101"/>
          <p:cNvSpPr/>
          <p:nvPr/>
        </p:nvSpPr>
        <p:spPr>
          <a:xfrm>
            <a:off x="15610347" y="9436100"/>
            <a:ext cx="66936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e80d0a15e1_0_101"/>
          <p:cNvSpPr/>
          <p:nvPr/>
        </p:nvSpPr>
        <p:spPr>
          <a:xfrm>
            <a:off x="15864371" y="9684075"/>
            <a:ext cx="2294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disponibles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80d0a15e1_0_101"/>
          <p:cNvSpPr/>
          <p:nvPr/>
        </p:nvSpPr>
        <p:spPr>
          <a:xfrm>
            <a:off x="15610347" y="101981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e80d0a15e1_0_101"/>
          <p:cNvSpPr/>
          <p:nvPr/>
        </p:nvSpPr>
        <p:spPr>
          <a:xfrm>
            <a:off x="15864381" y="10433375"/>
            <a:ext cx="1164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Ilimitado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80d0a15e1_0_101"/>
          <p:cNvSpPr/>
          <p:nvPr/>
        </p:nvSpPr>
        <p:spPr>
          <a:xfrm>
            <a:off x="15610347" y="10934700"/>
            <a:ext cx="66936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e80d0a15e1_0_101"/>
          <p:cNvSpPr/>
          <p:nvPr/>
        </p:nvSpPr>
        <p:spPr>
          <a:xfrm>
            <a:off x="15864370" y="11176325"/>
            <a:ext cx="1826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espacios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20" name="Google Shape;420;g3e80d0a15e1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e80d0a15e1_0_17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e80d0a15e1_0_170"/>
          <p:cNvSpPr/>
          <p:nvPr/>
        </p:nvSpPr>
        <p:spPr>
          <a:xfrm>
            <a:off x="2083073" y="3924300"/>
            <a:ext cx="8586300" cy="81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23" name="Google Shape;423;g3e80d0a15e1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8862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e80d0a15e1_0_170"/>
          <p:cNvSpPr/>
          <p:nvPr/>
        </p:nvSpPr>
        <p:spPr>
          <a:xfrm>
            <a:off x="2083062" y="4152900"/>
            <a:ext cx="106566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Oportunidades de Exposición: El Jardín WGIC </a:t>
            </a:r>
            <a:endParaRPr b="0" i="0" sz="3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e80d0a15e1_0_170"/>
          <p:cNvSpPr/>
          <p:nvPr/>
        </p:nvSpPr>
        <p:spPr>
          <a:xfrm>
            <a:off x="2083075" y="5338225"/>
            <a:ext cx="103929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solución llave en mano para una presencia fluida y de alto impacto.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Nuestra área de exposición está diseñada para ser el vibrante corazón del congreso. Para maximizar el networking, todos los almuerzos y pausas para café del congreso se llevarán a cabo dentro de la Zona Expo, asegurando un flujo constante de delegados y alta visibilidad para cada expositor durante todo el día. Para simplificar la logística, todos los stands son gestionados y producidos directamente por los proveedores oficiales del lugar, ofreciendo una experiencia profesional, unificada y sin complicaciones. 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g3e80d0a15e1_0_170"/>
          <p:cNvSpPr/>
          <p:nvPr/>
        </p:nvSpPr>
        <p:spPr>
          <a:xfrm>
            <a:off x="2083076" y="7505700"/>
            <a:ext cx="8674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Jardín GRANDE (Stand Premium)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mejor opción para líderes del mercado que buscan la máxima visibilidad en el área de exposición.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g3e80d0a15e1_0_170"/>
          <p:cNvSpPr/>
          <p:nvPr/>
        </p:nvSpPr>
        <p:spPr>
          <a:xfrm>
            <a:off x="2083075" y="9067800"/>
            <a:ext cx="9197400" cy="26796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e80d0a15e1_0_170"/>
          <p:cNvSpPr/>
          <p:nvPr/>
        </p:nvSpPr>
        <p:spPr>
          <a:xfrm>
            <a:off x="2419676" y="9235500"/>
            <a:ext cx="85863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Espacio: Stand de exposición de gran formato 4 m x 4 m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Formato: Solución "llave en mano" completamente producida con un diseño unificado de alta gama.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Servicios incluidos: Luces LED, mostrador de información, electricidad (tablero eléctrico de 3,3 kW (1 enchufe disponible), Wi-Fi de alta velocidad, limpieza previa a la inauguración.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Letras negras de 10 cm de alto (20 letras incluidas).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 dedicado para el logotipo de la empresa y gráficos personalizados.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Mobiliario: 1 mesa de reunión y 4 sillas o taburetes de bar.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Personal: Incluye 3 Pases Completos para el Congreso. 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9" name="Google Shape;429;g3e80d0a15e1_0_170"/>
          <p:cNvSpPr/>
          <p:nvPr/>
        </p:nvSpPr>
        <p:spPr>
          <a:xfrm>
            <a:off x="2083073" y="120692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Inversión: 8.000 €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80d0a15e1_0_17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e80d0a15e1_0_17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2" name="Google Shape;432;g3e80d0a15e1_0_1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3" name="Google Shape;433;g3e80d0a15e1_0_1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4" name="Google Shape;434;g3e80d0a15e1_0_1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92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5" name="Google Shape;435;g3e80d0a15e1_0_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e80d0a15e1_0_17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7" name="Google Shape;437;g3e80d0a15e1_0_1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e80d0a15e1_0_17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9" name="Google Shape;439;g3e80d0a15e1_0_1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e80d0a15e1_0_170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1" name="Google Shape;441;g3e80d0a15e1_0_1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2" name="Google Shape;442;g3e80d0a15e1_0_17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3" name="Google Shape;443;g3e80d0a15e1_0_17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232729" y="838200"/>
            <a:ext cx="5626802" cy="49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4" name="Google Shape;444;g3e80d0a15e1_0_17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18414" y="7531100"/>
            <a:ext cx="5880834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3e80d0a15e1_0_170"/>
          <p:cNvSpPr/>
          <p:nvPr/>
        </p:nvSpPr>
        <p:spPr>
          <a:xfrm>
            <a:off x="16084543" y="5837767"/>
            <a:ext cx="59487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Esquema de Stand.</a:t>
            </a:r>
            <a:endParaRPr b="1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 final por definir.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la empresa lo desea, puede actualizar el equipo básico o la señalización incluidos en el precio. Esto se puede verificar directamente con el lugar y los organizadores. 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51" name="Google Shape;451;g3e80d0a15e1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e80d0a15e1_0_20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e80d0a15e1_0_200"/>
          <p:cNvSpPr/>
          <p:nvPr/>
        </p:nvSpPr>
        <p:spPr>
          <a:xfrm>
            <a:off x="2083073" y="4089400"/>
            <a:ext cx="8586300" cy="59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54" name="Google Shape;454;g3e80d0a15e1_0_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40513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e80d0a15e1_0_200"/>
          <p:cNvSpPr/>
          <p:nvPr/>
        </p:nvSpPr>
        <p:spPr>
          <a:xfrm>
            <a:off x="2083075" y="4318000"/>
            <a:ext cx="106566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Oportunidades de Exposición: El Jardín WGIC </a:t>
            </a:r>
            <a:endParaRPr b="0" i="0" sz="3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80d0a15e1_0_200"/>
          <p:cNvSpPr/>
          <p:nvPr/>
        </p:nvSpPr>
        <p:spPr>
          <a:xfrm>
            <a:off x="2083075" y="5105400"/>
            <a:ext cx="76662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Jardín MEDIO (Stand Estándar)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mejor opción para líderes del mercado que buscan la máxima visibilidad en el área de exposición.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7" name="Google Shape;457;g3e80d0a15e1_0_200"/>
          <p:cNvSpPr/>
          <p:nvPr/>
        </p:nvSpPr>
        <p:spPr>
          <a:xfrm>
            <a:off x="2083075" y="6667500"/>
            <a:ext cx="9253500" cy="26796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e80d0a15e1_0_200"/>
          <p:cNvSpPr/>
          <p:nvPr/>
        </p:nvSpPr>
        <p:spPr>
          <a:xfrm>
            <a:off x="2419675" y="6835200"/>
            <a:ext cx="87861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Espacio: Stand de exposición de gran formato 3 m x 3 m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Formato: Solución "llave en mano" completamente producida con un diseño unificado de alta gama.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Servicios incluidos: Luces LED, mostrador de información, electricidad (tablero eléctrico de 3,3 kW (1 enchufe disponible), Wi-Fi de alta velocidad, limpieza previa a la inauguración.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Letras negras de 10 cm de alto (20 letras incluidas).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 dedicado para el logotipo de la empresa y gráficos personalizados.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Mobiliario: 1 mesa de reunión y 2 taburetes de bar.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Personal: Incluye 2 Pases Completos para el Congreso. 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g3e80d0a15e1_0_200"/>
          <p:cNvSpPr/>
          <p:nvPr/>
        </p:nvSpPr>
        <p:spPr>
          <a:xfrm>
            <a:off x="2083073" y="97451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Inversión: 5.000 €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80d0a15e1_0_20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e80d0a15e1_0_20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2" name="Google Shape;462;g3e80d0a15e1_0_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3" name="Google Shape;463;g3e80d0a15e1_0_2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4" name="Google Shape;464;g3e80d0a15e1_0_2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5" name="Google Shape;465;g3e80d0a15e1_0_2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e80d0a15e1_0_20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7" name="Google Shape;467;g3e80d0a15e1_0_2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e80d0a15e1_0_20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9" name="Google Shape;469;g3e80d0a15e1_0_20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e80d0a15e1_0_200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71" name="Google Shape;471;g3e80d0a15e1_0_20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2" name="Google Shape;472;g3e80d0a15e1_0_20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3" name="Google Shape;473;g3e80d0a15e1_0_20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232729" y="838200"/>
            <a:ext cx="5626802" cy="49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4" name="Google Shape;474;g3e80d0a15e1_0_20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18414" y="7531100"/>
            <a:ext cx="5880834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e80d0a15e1_0_200"/>
          <p:cNvSpPr/>
          <p:nvPr/>
        </p:nvSpPr>
        <p:spPr>
          <a:xfrm>
            <a:off x="16084543" y="5837767"/>
            <a:ext cx="59487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Esquema de Stand.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 final por definir.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la empresa lo desea, puede actualizar el equipo básico o la señalización incluidos en el precio. Esto se puede verificar directamente con el lugar y los organizadores. </a:t>
            </a:r>
            <a:endParaRPr b="1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81" name="Google Shape;481;g3e80d0a15e1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e80d0a15e1_0_229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e80d0a15e1_0_229"/>
          <p:cNvSpPr/>
          <p:nvPr/>
        </p:nvSpPr>
        <p:spPr>
          <a:xfrm>
            <a:off x="2083073" y="4610100"/>
            <a:ext cx="8586300" cy="53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4" name="Google Shape;484;g3e80d0a15e1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4572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e80d0a15e1_0_229"/>
          <p:cNvSpPr/>
          <p:nvPr/>
        </p:nvSpPr>
        <p:spPr>
          <a:xfrm>
            <a:off x="2083062" y="4838700"/>
            <a:ext cx="10885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Oportunidades de Exposición: El Jardín WGIC </a:t>
            </a:r>
            <a:endParaRPr b="0" i="0" sz="3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e80d0a15e1_0_229"/>
          <p:cNvSpPr/>
          <p:nvPr/>
        </p:nvSpPr>
        <p:spPr>
          <a:xfrm>
            <a:off x="2083073" y="5854700"/>
            <a:ext cx="62619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Flor (Stand Compacto / Pod)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opción eficiente y rentable para startups y empresas especializadas.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7" name="Google Shape;487;g3e80d0a15e1_0_229"/>
          <p:cNvSpPr/>
          <p:nvPr/>
        </p:nvSpPr>
        <p:spPr>
          <a:xfrm>
            <a:off x="2083063" y="7399875"/>
            <a:ext cx="8586300" cy="19473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e80d0a15e1_0_229"/>
          <p:cNvSpPr/>
          <p:nvPr/>
        </p:nvSpPr>
        <p:spPr>
          <a:xfrm>
            <a:off x="2419667" y="7399867"/>
            <a:ext cx="79809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Espacio: Estación de trabajo de exposición compacta (concepto de stand por definir)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Formato: Diseño minimalista para facilitar la interacción rápida.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Servicios incluidos: Electricidad (1 enchufe) y Wi-Fi de alta velocidad.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exhibición estilo tótem (proporcionada e impresa por la organización)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Mobiliario: 1 mesa y 2 sillas o taburetes de bar.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Personal: Incluye 1 Pase Completo para el Congreso. 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g3e80d0a15e1_0_229"/>
          <p:cNvSpPr/>
          <p:nvPr/>
        </p:nvSpPr>
        <p:spPr>
          <a:xfrm>
            <a:off x="2083073" y="97451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Inversión: 3.000 €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80d0a15e1_0_229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e80d0a15e1_0_229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2" name="Google Shape;492;g3e80d0a15e1_0_2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3" name="Google Shape;493;g3e80d0a15e1_0_2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4" name="Google Shape;494;g3e80d0a15e1_0_2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5" name="Google Shape;495;g3e80d0a15e1_0_2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e80d0a15e1_0_229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7" name="Google Shape;497;g3e80d0a15e1_0_2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e80d0a15e1_0_229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9" name="Google Shape;499;g3e80d0a15e1_0_2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e80d0a15e1_0_229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01" name="Google Shape;501;g3e80d0a15e1_0_2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2" name="Google Shape;502;g3e80d0a15e1_0_2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3" name="Google Shape;503;g3e80d0a15e1_0_2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759336" y="1676400"/>
            <a:ext cx="8598976" cy="98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e80d0a15e1_0_229"/>
          <p:cNvSpPr/>
          <p:nvPr/>
        </p:nvSpPr>
        <p:spPr>
          <a:xfrm>
            <a:off x="16082424" y="11832175"/>
            <a:ext cx="5940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Renderización indicativa. Formato final por definir.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10" name="Google Shape;5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9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12" name="Google Shape;5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753977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9"/>
          <p:cNvSpPr/>
          <p:nvPr/>
        </p:nvSpPr>
        <p:spPr>
          <a:xfrm>
            <a:off x="2083060" y="4046077"/>
            <a:ext cx="186447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Únete a los líderes que ya se han comprometido con WGIC26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16" name="Google Shape;5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7" name="Google Shape;5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8" name="Google Shape;51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9" name="Google Shape;5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9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1" name="Google Shape;52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3" name="Google Shape;52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9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5" name="Google Shape;52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82988" y="5121582"/>
            <a:ext cx="20221199" cy="675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32" name="Google Shape;5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6"/>
          <p:cNvSpPr/>
          <p:nvPr/>
        </p:nvSpPr>
        <p:spPr>
          <a:xfrm>
            <a:off x="2029274" y="7076894"/>
            <a:ext cx="94755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1757100" y="4277675"/>
            <a:ext cx="85191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Únete a la comunidad global que da forma al futuro de las ciudades sostenibles.</a:t>
            </a:r>
            <a:endParaRPr b="1" i="0" sz="4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1757100" y="6937650"/>
            <a:ext cx="71499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Contacta al equipo de patrocinio del WGIC 2026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38" name="Google Shape;5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118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39" name="Google Shape;5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0" name="Google Shape;5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1" name="Google Shape;5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6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3" name="Google Shape;5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6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5" name="Google Shape;5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07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6"/>
          <p:cNvSpPr/>
          <p:nvPr/>
        </p:nvSpPr>
        <p:spPr>
          <a:xfrm>
            <a:off x="9853008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7" name="Google Shape;54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08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6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1656148" y="7487268"/>
            <a:ext cx="89124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+34 623 04 90 22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5490294" y="7308144"/>
            <a:ext cx="8912400" cy="7201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sng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sponsorship@wgic26.org</a:t>
            </a:r>
            <a:endParaRPr b="0" i="0" sz="3200" u="none" cap="none" strike="noStrike">
              <a:solidFill>
                <a:srgbClr val="6DEF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551" name="Google Shape;55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57095" y="889981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6"/>
          <p:cNvSpPr/>
          <p:nvPr/>
        </p:nvSpPr>
        <p:spPr>
          <a:xfrm>
            <a:off x="2083070" y="10737521"/>
            <a:ext cx="85863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1757100" y="9519400"/>
            <a:ext cx="9233400" cy="2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Congreso Mundial de Infraestructura Verde 2026 Barcelona/Lleida</a:t>
            </a:r>
            <a:endParaRPr b="1" i="0" sz="4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Helvetica Neue"/>
              <a:buNone/>
            </a:pPr>
            <a:r>
              <a:t/>
            </a:r>
            <a:endParaRPr b="1" i="0" sz="4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1757100" y="11055175"/>
            <a:ext cx="4247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27-30 de octubre de 2026</a:t>
            </a:r>
            <a:endParaRPr b="0" i="0" sz="2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1757089" y="11705758"/>
            <a:ext cx="8912281" cy="4148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wgic26.barcelona</a:t>
            </a:r>
            <a:endParaRPr b="0" i="0" sz="3200" u="sng" cap="none" strike="noStrike">
              <a:solidFill>
                <a:srgbClr val="6DEF7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ustainable Real Estate in Barcelona | Harper Real Estate - Harper Real  Estate" id="556" name="Google Shape;55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877076" y="0"/>
            <a:ext cx="12540173" cy="1376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Marina deusedas</dc:creator>
</cp:coreProperties>
</file>