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13716000" cx="24387175"/>
  <p:notesSz cx="7099300" cy="10234600"/>
  <p:embeddedFontLst>
    <p:embeddedFont>
      <p:font typeface="Helvetica Neue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0OWVWVFYnUhpqLtIvWe8VTGbs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HelveticaNeue-bold.fntdata"/><Relationship Id="rId21" Type="http://schemas.openxmlformats.org/officeDocument/2006/relationships/font" Target="fonts/HelveticaNeue-regular.fntdata"/><Relationship Id="rId24" Type="http://schemas.openxmlformats.org/officeDocument/2006/relationships/font" Target="fonts/HelveticaNeue-boldItalic.fntdata"/><Relationship Id="rId23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010647" y="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b="0" i="0" lang="en-US" sz="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80d0a15e1_0_0:notes"/>
          <p:cNvSpPr/>
          <p:nvPr>
            <p:ph idx="2" type="sldImg"/>
          </p:nvPr>
        </p:nvSpPr>
        <p:spPr>
          <a:xfrm>
            <a:off x="354956" y="479687"/>
            <a:ext cx="2839800" cy="129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e80d0a15e1_0_0:notes"/>
          <p:cNvSpPr txBox="1"/>
          <p:nvPr>
            <p:ph idx="1" type="body"/>
          </p:nvPr>
        </p:nvSpPr>
        <p:spPr>
          <a:xfrm>
            <a:off x="354965" y="1846796"/>
            <a:ext cx="2839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150" lIns="44325" spcFirstLastPara="1" rIns="44325" wrap="square" tIns="22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g3e80d0a15e1_0_0:notes"/>
          <p:cNvSpPr txBox="1"/>
          <p:nvPr>
            <p:ph idx="12" type="sldNum"/>
          </p:nvPr>
        </p:nvSpPr>
        <p:spPr>
          <a:xfrm>
            <a:off x="2010647" y="3644958"/>
            <a:ext cx="1538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2150" lIns="44325" spcFirstLastPara="1" rIns="44325" wrap="square" tIns="22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80d0a15e1_0_101:notes"/>
          <p:cNvSpPr/>
          <p:nvPr>
            <p:ph idx="2" type="sldImg"/>
          </p:nvPr>
        </p:nvSpPr>
        <p:spPr>
          <a:xfrm>
            <a:off x="354956" y="479687"/>
            <a:ext cx="2839800" cy="129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e80d0a15e1_0_101:notes"/>
          <p:cNvSpPr txBox="1"/>
          <p:nvPr>
            <p:ph idx="1" type="body"/>
          </p:nvPr>
        </p:nvSpPr>
        <p:spPr>
          <a:xfrm>
            <a:off x="354965" y="1846796"/>
            <a:ext cx="2839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150" lIns="44325" spcFirstLastPara="1" rIns="44325" wrap="square" tIns="22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g3e80d0a15e1_0_101:notes"/>
          <p:cNvSpPr txBox="1"/>
          <p:nvPr>
            <p:ph idx="12" type="sldNum"/>
          </p:nvPr>
        </p:nvSpPr>
        <p:spPr>
          <a:xfrm>
            <a:off x="2010647" y="3644958"/>
            <a:ext cx="1538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2150" lIns="44325" spcFirstLastPara="1" rIns="44325" wrap="square" tIns="22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80d0a15e1_0_170:notes"/>
          <p:cNvSpPr/>
          <p:nvPr>
            <p:ph idx="2" type="sldImg"/>
          </p:nvPr>
        </p:nvSpPr>
        <p:spPr>
          <a:xfrm>
            <a:off x="354956" y="479687"/>
            <a:ext cx="2839800" cy="129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e80d0a15e1_0_170:notes"/>
          <p:cNvSpPr txBox="1"/>
          <p:nvPr>
            <p:ph idx="1" type="body"/>
          </p:nvPr>
        </p:nvSpPr>
        <p:spPr>
          <a:xfrm>
            <a:off x="354965" y="1846796"/>
            <a:ext cx="2839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150" lIns="44325" spcFirstLastPara="1" rIns="44325" wrap="square" tIns="22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g3e80d0a15e1_0_170:notes"/>
          <p:cNvSpPr txBox="1"/>
          <p:nvPr>
            <p:ph idx="12" type="sldNum"/>
          </p:nvPr>
        </p:nvSpPr>
        <p:spPr>
          <a:xfrm>
            <a:off x="2010647" y="3644958"/>
            <a:ext cx="1538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2150" lIns="44325" spcFirstLastPara="1" rIns="44325" wrap="square" tIns="22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80d0a15e1_0_200:notes"/>
          <p:cNvSpPr/>
          <p:nvPr>
            <p:ph idx="2" type="sldImg"/>
          </p:nvPr>
        </p:nvSpPr>
        <p:spPr>
          <a:xfrm>
            <a:off x="354956" y="479687"/>
            <a:ext cx="2839800" cy="129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g3e80d0a15e1_0_200:notes"/>
          <p:cNvSpPr txBox="1"/>
          <p:nvPr>
            <p:ph idx="1" type="body"/>
          </p:nvPr>
        </p:nvSpPr>
        <p:spPr>
          <a:xfrm>
            <a:off x="354965" y="1846796"/>
            <a:ext cx="2839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150" lIns="44325" spcFirstLastPara="1" rIns="44325" wrap="square" tIns="22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g3e80d0a15e1_0_200:notes"/>
          <p:cNvSpPr txBox="1"/>
          <p:nvPr>
            <p:ph idx="12" type="sldNum"/>
          </p:nvPr>
        </p:nvSpPr>
        <p:spPr>
          <a:xfrm>
            <a:off x="2010647" y="3644958"/>
            <a:ext cx="1538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2150" lIns="44325" spcFirstLastPara="1" rIns="44325" wrap="square" tIns="22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e80d0a15e1_0_229:notes"/>
          <p:cNvSpPr/>
          <p:nvPr>
            <p:ph idx="2" type="sldImg"/>
          </p:nvPr>
        </p:nvSpPr>
        <p:spPr>
          <a:xfrm>
            <a:off x="354956" y="479687"/>
            <a:ext cx="2839800" cy="129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3e80d0a15e1_0_229:notes"/>
          <p:cNvSpPr txBox="1"/>
          <p:nvPr>
            <p:ph idx="1" type="body"/>
          </p:nvPr>
        </p:nvSpPr>
        <p:spPr>
          <a:xfrm>
            <a:off x="354965" y="1846796"/>
            <a:ext cx="2839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150" lIns="44325" spcFirstLastPara="1" rIns="44325" wrap="square" tIns="22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g3e80d0a15e1_0_229:notes"/>
          <p:cNvSpPr txBox="1"/>
          <p:nvPr>
            <p:ph idx="12" type="sldNum"/>
          </p:nvPr>
        </p:nvSpPr>
        <p:spPr>
          <a:xfrm>
            <a:off x="2010647" y="3644958"/>
            <a:ext cx="15381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2150" lIns="44325" spcFirstLastPara="1" rIns="44325" wrap="square" tIns="22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9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19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p19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6:notes"/>
          <p:cNvSpPr/>
          <p:nvPr>
            <p:ph idx="2" type="sldImg"/>
          </p:nvPr>
        </p:nvSpPr>
        <p:spPr>
          <a:xfrm>
            <a:off x="623888" y="479425"/>
            <a:ext cx="2301875" cy="12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16:notes"/>
          <p:cNvSpPr txBox="1"/>
          <p:nvPr>
            <p:ph idx="1" type="body"/>
          </p:nvPr>
        </p:nvSpPr>
        <p:spPr>
          <a:xfrm>
            <a:off x="354965" y="1846787"/>
            <a:ext cx="2839720" cy="1511008"/>
          </a:xfrm>
          <a:prstGeom prst="rect">
            <a:avLst/>
          </a:prstGeom>
          <a:noFill/>
          <a:ln>
            <a:noFill/>
          </a:ln>
        </p:spPr>
        <p:txBody>
          <a:bodyPr anchorCtr="0" anchor="t" bIns="20775" lIns="41575" spcFirstLastPara="1" rIns="41575" wrap="square" tIns="207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0" name="Google Shape;530;p16:notes"/>
          <p:cNvSpPr txBox="1"/>
          <p:nvPr>
            <p:ph idx="12" type="sldNum"/>
          </p:nvPr>
        </p:nvSpPr>
        <p:spPr>
          <a:xfrm>
            <a:off x="2010647" y="3644940"/>
            <a:ext cx="1538182" cy="192540"/>
          </a:xfrm>
          <a:prstGeom prst="rect">
            <a:avLst/>
          </a:prstGeom>
          <a:noFill/>
          <a:ln>
            <a:noFill/>
          </a:ln>
        </p:spPr>
        <p:txBody>
          <a:bodyPr anchorCtr="0" anchor="b" bIns="20775" lIns="41575" spcFirstLastPara="1" rIns="41575" wrap="square" tIns="207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11" Type="http://schemas.openxmlformats.org/officeDocument/2006/relationships/image" Target="../media/image10.png"/><Relationship Id="rId10" Type="http://schemas.openxmlformats.org/officeDocument/2006/relationships/image" Target="../media/image1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1" Type="http://schemas.openxmlformats.org/officeDocument/2006/relationships/image" Target="../media/image1.png"/><Relationship Id="rId10" Type="http://schemas.openxmlformats.org/officeDocument/2006/relationships/image" Target="../media/image4.png"/><Relationship Id="rId12" Type="http://schemas.openxmlformats.org/officeDocument/2006/relationships/image" Target="../media/image22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1" Type="http://schemas.openxmlformats.org/officeDocument/2006/relationships/image" Target="../media/image1.png"/><Relationship Id="rId10" Type="http://schemas.openxmlformats.org/officeDocument/2006/relationships/image" Target="../media/image4.png"/><Relationship Id="rId12" Type="http://schemas.openxmlformats.org/officeDocument/2006/relationships/image" Target="../media/image12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1" Type="http://schemas.openxmlformats.org/officeDocument/2006/relationships/image" Target="../media/image1.png"/><Relationship Id="rId10" Type="http://schemas.openxmlformats.org/officeDocument/2006/relationships/image" Target="../media/image4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1" Type="http://schemas.openxmlformats.org/officeDocument/2006/relationships/image" Target="../media/image1.png"/><Relationship Id="rId10" Type="http://schemas.openxmlformats.org/officeDocument/2006/relationships/image" Target="../media/image4.png"/><Relationship Id="rId12" Type="http://schemas.openxmlformats.org/officeDocument/2006/relationships/image" Target="../media/image9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11" Type="http://schemas.openxmlformats.org/officeDocument/2006/relationships/image" Target="../media/image5.png"/><Relationship Id="rId10" Type="http://schemas.openxmlformats.org/officeDocument/2006/relationships/image" Target="../media/image1.png"/><Relationship Id="rId12" Type="http://schemas.openxmlformats.org/officeDocument/2006/relationships/image" Target="../media/image20.jp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1" Type="http://schemas.openxmlformats.org/officeDocument/2006/relationships/image" Target="../media/image1.png"/><Relationship Id="rId10" Type="http://schemas.openxmlformats.org/officeDocument/2006/relationships/image" Target="../media/image4.png"/><Relationship Id="rId12" Type="http://schemas.openxmlformats.org/officeDocument/2006/relationships/image" Target="../media/image15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1" Type="http://schemas.openxmlformats.org/officeDocument/2006/relationships/image" Target="../media/image1.png"/><Relationship Id="rId10" Type="http://schemas.openxmlformats.org/officeDocument/2006/relationships/image" Target="../media/image4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1" Type="http://schemas.openxmlformats.org/officeDocument/2006/relationships/image" Target="../media/image1.png"/><Relationship Id="rId10" Type="http://schemas.openxmlformats.org/officeDocument/2006/relationships/image" Target="../media/image4.png"/><Relationship Id="rId12" Type="http://schemas.openxmlformats.org/officeDocument/2006/relationships/image" Target="../media/image32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11" Type="http://schemas.openxmlformats.org/officeDocument/2006/relationships/image" Target="../media/image19.png"/><Relationship Id="rId10" Type="http://schemas.openxmlformats.org/officeDocument/2006/relationships/image" Target="../media/image17.png"/><Relationship Id="rId9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11" Type="http://schemas.openxmlformats.org/officeDocument/2006/relationships/image" Target="../media/image19.png"/><Relationship Id="rId10" Type="http://schemas.openxmlformats.org/officeDocument/2006/relationships/image" Target="../media/image17.png"/><Relationship Id="rId9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7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5.png"/><Relationship Id="rId9" Type="http://schemas.openxmlformats.org/officeDocument/2006/relationships/image" Target="../media/image16.png"/><Relationship Id="rId14" Type="http://schemas.openxmlformats.org/officeDocument/2006/relationships/image" Target="../media/image27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7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5.png"/><Relationship Id="rId9" Type="http://schemas.openxmlformats.org/officeDocument/2006/relationships/image" Target="../media/image16.png"/><Relationship Id="rId14" Type="http://schemas.openxmlformats.org/officeDocument/2006/relationships/image" Target="../media/image28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7.png"/><Relationship Id="rId13" Type="http://schemas.openxmlformats.org/officeDocument/2006/relationships/image" Target="../media/image26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5.png"/><Relationship Id="rId9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7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5.png"/><Relationship Id="rId9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1.png"/><Relationship Id="rId13" Type="http://schemas.openxmlformats.org/officeDocument/2006/relationships/image" Target="../media/image33.jpg"/><Relationship Id="rId12" Type="http://schemas.openxmlformats.org/officeDocument/2006/relationships/hyperlink" Target="https://www.wgic26.barcelona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312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2083060" y="4889500"/>
            <a:ext cx="9475384" cy="2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083050" y="4889500"/>
            <a:ext cx="10428600" cy="16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Helvetica Neue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WGIC26 – </a:t>
            </a:r>
            <a:r>
              <a:rPr b="1" i="0" lang="en-US" sz="60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Congreso Mundial de Infraestructura Verde</a:t>
            </a:r>
            <a:r>
              <a:rPr b="1" i="0" lang="en-US" sz="6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083060" y="6959600"/>
            <a:ext cx="967861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Barcelona y Lleida, España 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083060" y="8967758"/>
            <a:ext cx="88191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Helvetica Neue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Dando forma al futuro de la infraestructura verde en las ciudades 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083048" y="10807700"/>
            <a:ext cx="5687400" cy="8256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331336" y="10949504"/>
            <a:ext cx="5439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27-30 de octubre de 2026</a:t>
            </a:r>
            <a:endParaRPr b="1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5" name="Google Shape;2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8094" y="1673969"/>
            <a:ext cx="1826759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" name="Google Shape;2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7" name="Google Shape;2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9607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8" name="Google Shape;2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6528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7720097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0" name="Google Shape;30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57953" y="2238524"/>
            <a:ext cx="948790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8684475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2" name="Google Shape;32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5445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/>
          <p:nvPr/>
        </p:nvSpPr>
        <p:spPr>
          <a:xfrm>
            <a:off x="9853021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4" name="Google Shape;34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53021" y="2360166"/>
            <a:ext cx="1705424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" name="Google Shape;35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730416" y="0"/>
            <a:ext cx="10656632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1" name="Google Shape;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083060" y="6616700"/>
            <a:ext cx="8586273" cy="50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4" name="Google Shape;4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65786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2083048" y="7124700"/>
            <a:ext cx="10348200" cy="18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ciudades enfrentan desafíos ambientales sin precedentes 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083049" y="9182100"/>
            <a:ext cx="97032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ciudades de todo el mundo se enfrentan a grandes presiones ambientales: 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Cambio climático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Inundaciones urbanas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Islas de calor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Pérdida de biodiversidad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9" name="Google Shape;4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59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0" name="Google Shape;5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1" name="Google Shape;5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2" name="Google Shape;52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28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7720097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4" name="Google Shape;54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53" y="2238524"/>
            <a:ext cx="948790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8684475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6" name="Google Shape;56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45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9853021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8" name="Google Shape;58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21" y="2360166"/>
            <a:ext cx="1705424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9" name="Google Shape;59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416" y="0"/>
            <a:ext cx="10656634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5" name="Google Shape;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083060" y="4394200"/>
            <a:ext cx="85863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68" name="Google Shape;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38989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2083048" y="4140200"/>
            <a:ext cx="102042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 mercado de infraestructura verde en rápida expansión 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083050" y="6654800"/>
            <a:ext cx="106566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Datos clave: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Pacto Verde Europeo moviliza cientos de miles de millones de euros en inversión climática. 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Estrategia de la UE sobre Biodiversidad 2030 promueve soluciones basadas en la naturaleza. 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ciudades de toda Europa están invirtiendo fuertemente en resiliencia urbana.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083060" y="9969500"/>
            <a:ext cx="868800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Áreas de inversión de ejemplo: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685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drenaje urbano sostenible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685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techos y paredes verdes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685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infraestructura de biodiversidad urbana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685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espacios públicos adaptados al clima.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4" name="Google Shape;7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5" name="Google Shape;7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6" name="Google Shape;7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7" name="Google Shape;77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9" name="Google Shape;79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81" name="Google Shape;81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83" name="Google Shape;83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4" name="Google Shape;84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416" y="0"/>
            <a:ext cx="10656632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90" name="Google Shape;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1663"/>
            <a:ext cx="24387046" cy="1443691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083060" y="5588000"/>
            <a:ext cx="8586273" cy="604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93" name="Google Shape;9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4158129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2083048" y="4419600"/>
            <a:ext cx="824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plataforma global para la infraestructura verde 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083060" y="6581558"/>
            <a:ext cx="86880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Congreso Mundial de Infraestructura Verde reúne a: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Investigadores líderes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Gobiernos municipales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Empresas de ingeniería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Agencias ambientales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Empresas de infraestructura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083060" y="9812111"/>
            <a:ext cx="86880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Datos clave: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participación internacional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asistentes de más de 30 países.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99" name="Google Shape;9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0" name="Google Shape;10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1" name="Google Shape;10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2" name="Google Shape;10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04" name="Google Shape;10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06" name="Google Shape;106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08" name="Google Shape;108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13243985" y="3929529"/>
            <a:ext cx="8586300" cy="6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0" name="Google Shape;11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43985" y="4120029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13243973" y="4437525"/>
            <a:ext cx="824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audiencia internacional altamente especializada 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3243985" y="6723529"/>
            <a:ext cx="86880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Distribución típica de la audiencia: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45–55% Academia e investigación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20–30% Sector privado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15–20% Sector público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3243985" y="9377829"/>
            <a:ext cx="86880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Sectores clave representados: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ingeniería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construcción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planificación urbana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arquitectura del paisaje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gestión del agua.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2083060" y="7429500"/>
            <a:ext cx="8586300" cy="42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67056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2083060" y="7023100"/>
            <a:ext cx="71256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¿Quién asiste al WGIC? 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083060" y="8775700"/>
            <a:ext cx="8688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participantes suelen incluir: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planificadores urbanos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agencias ambientales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ingenieros de infraestructura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arquitectos y arquitectos paisajistas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investigadores y expertos en políticas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proveedores de tecnología urbana.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27" name="Google Shape;12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8" name="Google Shape;12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9" name="Google Shape;12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0" name="Google Shape;13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2" name="Google Shape;132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4" name="Google Shape;134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36" name="Google Shape;136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7" name="Google Shape;137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416" y="0"/>
            <a:ext cx="10656632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3" name="Google Shape;1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7" name="Google Shape;1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8" name="Google Shape;14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52" name="Google Shape;15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54" name="Google Shape;15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56" name="Google Shape;156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2083060" y="3695700"/>
            <a:ext cx="8586300" cy="7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58" name="Google Shape;158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83060" y="36576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/>
          <p:nvPr/>
        </p:nvSpPr>
        <p:spPr>
          <a:xfrm>
            <a:off x="2083047" y="3987800"/>
            <a:ext cx="94755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qué no puedes perderte el WGIC26 en Barcelona 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2083060" y="5829300"/>
            <a:ext cx="8688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Año de Gaudí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●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Barcelona Capital Mundial de la Arquitectura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083060" y="6896100"/>
            <a:ext cx="8687886" cy="31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talleres interactivos: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2083060" y="7942943"/>
            <a:ext cx="95136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Sur global: diseñando las infraestructuras verdes del sur global a través de una asociación genuina basada en el aprendizaje mutuo, la co-creación de conocimiento y el intercambio equitativo de beneficios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2083060" y="9819552"/>
            <a:ext cx="95136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Salud y bienestar: conectando los sectores de la salud y la infraestructura verde. diseñando para conectar con la naturaleza (criterios de biofilia) y evitando el impacto negativo de la falta de naturaleza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083060" y="11264900"/>
            <a:ext cx="95136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Post-conflicto y recuperación de desastres: cómo puede la infraestructura verde contribuir a la recuperación social y ambiental tras situaciones de crisis debidas a conflictos o desastres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ómo visitar La Pedrera (Casa Milà) en Barcelona: tipos de entrada,  precios, horarios, curiosidades y nuestra experiencia - RandomTrip" id="165" name="Google Shape;165;p6"/>
          <p:cNvPicPr preferRelativeResize="0"/>
          <p:nvPr/>
        </p:nvPicPr>
        <p:blipFill rotWithShape="1">
          <a:blip r:embed="rId12">
            <a:alphaModFix/>
          </a:blip>
          <a:srcRect b="0" l="24706" r="19839" t="0"/>
          <a:stretch/>
        </p:blipFill>
        <p:spPr>
          <a:xfrm>
            <a:off x="12981172" y="0"/>
            <a:ext cx="11403795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71" name="Google Shape;17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083060" y="4978400"/>
            <a:ext cx="8586273" cy="66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74" name="Google Shape;17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39497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/>
          <p:nvPr/>
        </p:nvSpPr>
        <p:spPr>
          <a:xfrm>
            <a:off x="2083047" y="4191000"/>
            <a:ext cx="9033600" cy="18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Barcelona: un laboratorio vivo para ciudades sostenibles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2083060" y="7065433"/>
            <a:ext cx="868800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Barcelona es reconocida globalmente por su liderazgo en: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planificación urbana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movilidad sostenible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estrategias de adaptación al clima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soluciones basadas en la naturaleza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2083060" y="9994900"/>
            <a:ext cx="8687886" cy="163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iniciativas clave incluyen: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supermanzanas (superilles)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 de la naturaleza de barcelona 2030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iniciativas de infraestructura azul-verde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80" name="Google Shape;18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1" name="Google Shape;18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2" name="Google Shape;18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83" name="Google Shape;183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85" name="Google Shape;18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87" name="Google Shape;187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89" name="Google Shape;189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0" name="Google Shape;190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416" y="0"/>
            <a:ext cx="10656632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5101176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083060" y="5243525"/>
            <a:ext cx="85863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99" name="Google Shape;19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5205425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/>
          <p:nvPr/>
        </p:nvSpPr>
        <p:spPr>
          <a:xfrm>
            <a:off x="2083060" y="5522925"/>
            <a:ext cx="71256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qué las empresas patrocinan el WGIC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083060" y="7885125"/>
            <a:ext cx="868800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Beneficios: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posicionamiento como líder en infraestructura sostenible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acceso a tomadores de decisiones internacionales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oportunidad de presentar tecnologías y proyectos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desarrollo de negocios y asociaciones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4" name="Google Shape;20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94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5" name="Google Shape;20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6" name="Google Shape;20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9" name="Google Shape;209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1" name="Google Shape;211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9853033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3" name="Google Shape;213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33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/>
          <p:nvPr/>
        </p:nvSpPr>
        <p:spPr>
          <a:xfrm>
            <a:off x="13147300" y="5219700"/>
            <a:ext cx="8586300" cy="48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5" name="Google Shape;21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47300" y="51816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8"/>
          <p:cNvSpPr/>
          <p:nvPr/>
        </p:nvSpPr>
        <p:spPr>
          <a:xfrm>
            <a:off x="13147300" y="5499100"/>
            <a:ext cx="71256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Múltiples oportunidades para la interacción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13147300" y="8242300"/>
            <a:ext cx="8688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patrocinadores ganan visibilidad a través de: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sesiones plenarias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paneles patrocinados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estands de exposición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recepciones de networking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cena de gala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visitas técnicas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3" name="Google Shape;2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2083060" y="5778500"/>
            <a:ext cx="8586300" cy="37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26" name="Google Shape;22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61976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9"/>
          <p:cNvSpPr/>
          <p:nvPr/>
        </p:nvSpPr>
        <p:spPr>
          <a:xfrm>
            <a:off x="2083060" y="6591300"/>
            <a:ext cx="81036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Visibilidad de marca para patrocinadores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2083060" y="9182100"/>
            <a:ext cx="8687886" cy="245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Ejemplos: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branding en el escenario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presencia en la exposición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branding del programa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promoción en el sitio web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exposición en marketing digital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31" name="Google Shape;23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18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2" name="Google Shape;23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3" name="Google Shape;23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07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4" name="Google Shape;23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9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36" name="Google Shape;236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9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38" name="Google Shape;238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07" y="2212578"/>
            <a:ext cx="1046789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9"/>
          <p:cNvSpPr/>
          <p:nvPr/>
        </p:nvSpPr>
        <p:spPr>
          <a:xfrm>
            <a:off x="9853008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40" name="Google Shape;240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08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nue images 1" id="241" name="Google Shape;241;p9"/>
          <p:cNvPicPr preferRelativeResize="0"/>
          <p:nvPr/>
        </p:nvPicPr>
        <p:blipFill rotWithShape="1">
          <a:blip r:embed="rId12">
            <a:alphaModFix/>
          </a:blip>
          <a:srcRect b="0" l="7871" r="5469" t="0"/>
          <a:stretch/>
        </p:blipFill>
        <p:spPr>
          <a:xfrm>
            <a:off x="12958503" y="0"/>
            <a:ext cx="1140095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7" name="Google Shape;247;g3e80d0a15e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6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e80d0a15e1_0_0"/>
          <p:cNvSpPr/>
          <p:nvPr/>
        </p:nvSpPr>
        <p:spPr>
          <a:xfrm>
            <a:off x="0" y="13246100"/>
            <a:ext cx="24387000" cy="4698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e80d0a15e1_0_0"/>
          <p:cNvSpPr/>
          <p:nvPr/>
        </p:nvSpPr>
        <p:spPr>
          <a:xfrm>
            <a:off x="2083073" y="3975100"/>
            <a:ext cx="85863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50" name="Google Shape;250;g3e80d0a15e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73" y="39370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e80d0a15e1_0_0"/>
          <p:cNvSpPr/>
          <p:nvPr/>
        </p:nvSpPr>
        <p:spPr>
          <a:xfrm>
            <a:off x="2083073" y="4330700"/>
            <a:ext cx="71256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Paquetes de patrocinio 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e80d0a15e1_0_0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e80d0a15e1_0_0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54" name="Google Shape;254;g3e80d0a15e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06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5" name="Google Shape;255;g3e80d0a15e1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6" name="Google Shape;256;g3e80d0a15e1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7" name="Google Shape;257;g3e80d0a15e1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e80d0a15e1_0_0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59" name="Google Shape;259;g3e80d0a15e1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3e80d0a15e1_0_0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61" name="Google Shape;261;g3e80d0a15e1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e80d0a15e1_0_0"/>
          <p:cNvSpPr/>
          <p:nvPr/>
        </p:nvSpPr>
        <p:spPr>
          <a:xfrm>
            <a:off x="9853094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63" name="Google Shape;263;g3e80d0a15e1_0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94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e80d0a15e1_0_0"/>
          <p:cNvSpPr/>
          <p:nvPr/>
        </p:nvSpPr>
        <p:spPr>
          <a:xfrm>
            <a:off x="2083073" y="5689600"/>
            <a:ext cx="40011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e80d0a15e1_0_0"/>
          <p:cNvSpPr/>
          <p:nvPr/>
        </p:nvSpPr>
        <p:spPr>
          <a:xfrm>
            <a:off x="2337098" y="5943925"/>
            <a:ext cx="1951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CATEGORÍA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e80d0a15e1_0_0"/>
          <p:cNvSpPr/>
          <p:nvPr/>
        </p:nvSpPr>
        <p:spPr>
          <a:xfrm>
            <a:off x="6134905" y="5689600"/>
            <a:ext cx="40137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e80d0a15e1_0_0"/>
          <p:cNvSpPr/>
          <p:nvPr/>
        </p:nvSpPr>
        <p:spPr>
          <a:xfrm>
            <a:off x="6388954" y="5956625"/>
            <a:ext cx="31242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DIAMANTE 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(EXCLUSIVO)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e80d0a15e1_0_0"/>
          <p:cNvSpPr/>
          <p:nvPr/>
        </p:nvSpPr>
        <p:spPr>
          <a:xfrm>
            <a:off x="10199438" y="5689600"/>
            <a:ext cx="39882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e80d0a15e1_0_0"/>
          <p:cNvSpPr/>
          <p:nvPr/>
        </p:nvSpPr>
        <p:spPr>
          <a:xfrm>
            <a:off x="10453476" y="5943925"/>
            <a:ext cx="1773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ESMERALDA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e80d0a15e1_0_0"/>
          <p:cNvSpPr/>
          <p:nvPr/>
        </p:nvSpPr>
        <p:spPr>
          <a:xfrm>
            <a:off x="14238568" y="5689600"/>
            <a:ext cx="40137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e80d0a15e1_0_0"/>
          <p:cNvSpPr/>
          <p:nvPr/>
        </p:nvSpPr>
        <p:spPr>
          <a:xfrm>
            <a:off x="14492600" y="5943925"/>
            <a:ext cx="1367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PLATINO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e80d0a15e1_0_0"/>
          <p:cNvSpPr/>
          <p:nvPr/>
        </p:nvSpPr>
        <p:spPr>
          <a:xfrm>
            <a:off x="18303101" y="5689600"/>
            <a:ext cx="40011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e80d0a15e1_0_0"/>
          <p:cNvSpPr/>
          <p:nvPr/>
        </p:nvSpPr>
        <p:spPr>
          <a:xfrm>
            <a:off x="18557133" y="5943925"/>
            <a:ext cx="808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e80d0a15e1_0_0"/>
          <p:cNvSpPr/>
          <p:nvPr/>
        </p:nvSpPr>
        <p:spPr>
          <a:xfrm>
            <a:off x="2083073" y="64643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e80d0a15e1_0_0"/>
          <p:cNvSpPr/>
          <p:nvPr/>
        </p:nvSpPr>
        <p:spPr>
          <a:xfrm>
            <a:off x="2337106" y="6699575"/>
            <a:ext cx="1342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Inversión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e80d0a15e1_0_0"/>
          <p:cNvSpPr/>
          <p:nvPr/>
        </p:nvSpPr>
        <p:spPr>
          <a:xfrm>
            <a:off x="2083073" y="7200900"/>
            <a:ext cx="4001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e80d0a15e1_0_0"/>
          <p:cNvSpPr/>
          <p:nvPr/>
        </p:nvSpPr>
        <p:spPr>
          <a:xfrm>
            <a:off x="2337096" y="7448875"/>
            <a:ext cx="3336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Pases para el congreso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e80d0a15e1_0_0"/>
          <p:cNvSpPr/>
          <p:nvPr/>
        </p:nvSpPr>
        <p:spPr>
          <a:xfrm>
            <a:off x="2083073" y="79629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e80d0a15e1_0_0"/>
          <p:cNvSpPr/>
          <p:nvPr/>
        </p:nvSpPr>
        <p:spPr>
          <a:xfrm>
            <a:off x="2337096" y="8198175"/>
            <a:ext cx="3615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Entradas para la cena de gala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e80d0a15e1_0_0"/>
          <p:cNvSpPr/>
          <p:nvPr/>
        </p:nvSpPr>
        <p:spPr>
          <a:xfrm>
            <a:off x="2083073" y="86995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e80d0a15e1_0_0"/>
          <p:cNvSpPr/>
          <p:nvPr/>
        </p:nvSpPr>
        <p:spPr>
          <a:xfrm>
            <a:off x="2337098" y="8934775"/>
            <a:ext cx="3449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Oportunidad para disertar (*)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e80d0a15e1_0_0"/>
          <p:cNvSpPr/>
          <p:nvPr/>
        </p:nvSpPr>
        <p:spPr>
          <a:xfrm>
            <a:off x="2083073" y="9436100"/>
            <a:ext cx="4001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e80d0a15e1_0_0"/>
          <p:cNvSpPr/>
          <p:nvPr/>
        </p:nvSpPr>
        <p:spPr>
          <a:xfrm>
            <a:off x="2337094" y="9796134"/>
            <a:ext cx="3237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Derechos de denominación (Naming rights)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e80d0a15e1_0_0"/>
          <p:cNvSpPr/>
          <p:nvPr/>
        </p:nvSpPr>
        <p:spPr>
          <a:xfrm>
            <a:off x="2083073" y="101981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e80d0a15e1_0_0"/>
          <p:cNvSpPr/>
          <p:nvPr/>
        </p:nvSpPr>
        <p:spPr>
          <a:xfrm>
            <a:off x="2337096" y="10433375"/>
            <a:ext cx="3336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Presencia de marca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e80d0a15e1_0_0"/>
          <p:cNvSpPr/>
          <p:nvPr/>
        </p:nvSpPr>
        <p:spPr>
          <a:xfrm>
            <a:off x="2083073" y="10934700"/>
            <a:ext cx="40011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e80d0a15e1_0_0"/>
          <p:cNvSpPr/>
          <p:nvPr/>
        </p:nvSpPr>
        <p:spPr>
          <a:xfrm>
            <a:off x="2337106" y="11176325"/>
            <a:ext cx="1773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 incluido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e80d0a15e1_0_0"/>
          <p:cNvSpPr/>
          <p:nvPr/>
        </p:nvSpPr>
        <p:spPr>
          <a:xfrm>
            <a:off x="6134905" y="64643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e80d0a15e1_0_0"/>
          <p:cNvSpPr/>
          <p:nvPr/>
        </p:nvSpPr>
        <p:spPr>
          <a:xfrm>
            <a:off x="6388962" y="6699575"/>
            <a:ext cx="1951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30.000 €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e80d0a15e1_0_0"/>
          <p:cNvSpPr/>
          <p:nvPr/>
        </p:nvSpPr>
        <p:spPr>
          <a:xfrm>
            <a:off x="6134905" y="7200900"/>
            <a:ext cx="40137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e80d0a15e1_0_0"/>
          <p:cNvSpPr/>
          <p:nvPr/>
        </p:nvSpPr>
        <p:spPr>
          <a:xfrm>
            <a:off x="6388957" y="7448875"/>
            <a:ext cx="2645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 Pases Completos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e80d0a15e1_0_0"/>
          <p:cNvSpPr/>
          <p:nvPr/>
        </p:nvSpPr>
        <p:spPr>
          <a:xfrm>
            <a:off x="6134905" y="79629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e80d0a15e1_0_0"/>
          <p:cNvSpPr/>
          <p:nvPr/>
        </p:nvSpPr>
        <p:spPr>
          <a:xfrm>
            <a:off x="6388958" y="8198175"/>
            <a:ext cx="2057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 Entradas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e80d0a15e1_0_0"/>
          <p:cNvSpPr/>
          <p:nvPr/>
        </p:nvSpPr>
        <p:spPr>
          <a:xfrm>
            <a:off x="6134905" y="86995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e80d0a15e1_0_0"/>
          <p:cNvSpPr/>
          <p:nvPr/>
        </p:nvSpPr>
        <p:spPr>
          <a:xfrm>
            <a:off x="6388971" y="8934775"/>
            <a:ext cx="2819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confirmar (TBC)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e80d0a15e1_0_0"/>
          <p:cNvSpPr/>
          <p:nvPr/>
        </p:nvSpPr>
        <p:spPr>
          <a:xfrm>
            <a:off x="6134905" y="9436100"/>
            <a:ext cx="40137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e80d0a15e1_0_0"/>
          <p:cNvSpPr/>
          <p:nvPr/>
        </p:nvSpPr>
        <p:spPr>
          <a:xfrm>
            <a:off x="6388958" y="9684075"/>
            <a:ext cx="3336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Auditorio Principal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e80d0a15e1_0_0"/>
          <p:cNvSpPr/>
          <p:nvPr/>
        </p:nvSpPr>
        <p:spPr>
          <a:xfrm>
            <a:off x="6134905" y="101981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e80d0a15e1_0_0"/>
          <p:cNvSpPr/>
          <p:nvPr/>
        </p:nvSpPr>
        <p:spPr>
          <a:xfrm>
            <a:off x="6388938" y="10433375"/>
            <a:ext cx="2142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Máximo (Global)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e80d0a15e1_0_0"/>
          <p:cNvSpPr/>
          <p:nvPr/>
        </p:nvSpPr>
        <p:spPr>
          <a:xfrm>
            <a:off x="6134905" y="10934700"/>
            <a:ext cx="40137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e80d0a15e1_0_0"/>
          <p:cNvSpPr/>
          <p:nvPr/>
        </p:nvSpPr>
        <p:spPr>
          <a:xfrm>
            <a:off x="6388953" y="11176325"/>
            <a:ext cx="3336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Premium (Grande 4*4m)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e80d0a15e1_0_0"/>
          <p:cNvSpPr/>
          <p:nvPr/>
        </p:nvSpPr>
        <p:spPr>
          <a:xfrm>
            <a:off x="10199438" y="6464300"/>
            <a:ext cx="3988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e80d0a15e1_0_0"/>
          <p:cNvSpPr/>
          <p:nvPr/>
        </p:nvSpPr>
        <p:spPr>
          <a:xfrm>
            <a:off x="10453479" y="6699575"/>
            <a:ext cx="1939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e80d0a15e1_0_0"/>
          <p:cNvSpPr/>
          <p:nvPr/>
        </p:nvSpPr>
        <p:spPr>
          <a:xfrm>
            <a:off x="10199438" y="7200900"/>
            <a:ext cx="39882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e80d0a15e1_0_0"/>
          <p:cNvSpPr/>
          <p:nvPr/>
        </p:nvSpPr>
        <p:spPr>
          <a:xfrm>
            <a:off x="10453478" y="7448875"/>
            <a:ext cx="2819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 Pases Completos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e80d0a15e1_0_0"/>
          <p:cNvSpPr/>
          <p:nvPr/>
        </p:nvSpPr>
        <p:spPr>
          <a:xfrm>
            <a:off x="10199438" y="7962900"/>
            <a:ext cx="3988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e80d0a15e1_0_0"/>
          <p:cNvSpPr/>
          <p:nvPr/>
        </p:nvSpPr>
        <p:spPr>
          <a:xfrm>
            <a:off x="10453479" y="8198175"/>
            <a:ext cx="2142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 Entradas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e80d0a15e1_0_0"/>
          <p:cNvSpPr/>
          <p:nvPr/>
        </p:nvSpPr>
        <p:spPr>
          <a:xfrm>
            <a:off x="10199438" y="8699500"/>
            <a:ext cx="3988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e80d0a15e1_0_0"/>
          <p:cNvSpPr/>
          <p:nvPr/>
        </p:nvSpPr>
        <p:spPr>
          <a:xfrm>
            <a:off x="10453476" y="8934775"/>
            <a:ext cx="3124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confirmar (TBC)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e80d0a15e1_0_0"/>
          <p:cNvSpPr/>
          <p:nvPr/>
        </p:nvSpPr>
        <p:spPr>
          <a:xfrm>
            <a:off x="10199438" y="9436100"/>
            <a:ext cx="39882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e80d0a15e1_0_0"/>
          <p:cNvSpPr/>
          <p:nvPr/>
        </p:nvSpPr>
        <p:spPr>
          <a:xfrm>
            <a:off x="10453471" y="9684075"/>
            <a:ext cx="1735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 Paralela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e80d0a15e1_0_0"/>
          <p:cNvSpPr/>
          <p:nvPr/>
        </p:nvSpPr>
        <p:spPr>
          <a:xfrm>
            <a:off x="10199438" y="10198100"/>
            <a:ext cx="3988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e80d0a15e1_0_0"/>
          <p:cNvSpPr/>
          <p:nvPr/>
        </p:nvSpPr>
        <p:spPr>
          <a:xfrm>
            <a:off x="10453477" y="10433375"/>
            <a:ext cx="23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Alta Visibilidad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e80d0a15e1_0_0"/>
          <p:cNvSpPr/>
          <p:nvPr/>
        </p:nvSpPr>
        <p:spPr>
          <a:xfrm>
            <a:off x="10199438" y="10934700"/>
            <a:ext cx="39882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e80d0a15e1_0_0"/>
          <p:cNvSpPr/>
          <p:nvPr/>
        </p:nvSpPr>
        <p:spPr>
          <a:xfrm>
            <a:off x="10453471" y="11176325"/>
            <a:ext cx="18375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Mediano (3*3m)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e80d0a15e1_0_0"/>
          <p:cNvSpPr/>
          <p:nvPr/>
        </p:nvSpPr>
        <p:spPr>
          <a:xfrm>
            <a:off x="14238568" y="64643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e80d0a15e1_0_0"/>
          <p:cNvSpPr/>
          <p:nvPr/>
        </p:nvSpPr>
        <p:spPr>
          <a:xfrm>
            <a:off x="14492600" y="6699575"/>
            <a:ext cx="1475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e80d0a15e1_0_0"/>
          <p:cNvSpPr/>
          <p:nvPr/>
        </p:nvSpPr>
        <p:spPr>
          <a:xfrm>
            <a:off x="14238568" y="7200900"/>
            <a:ext cx="40137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e80d0a15e1_0_0"/>
          <p:cNvSpPr/>
          <p:nvPr/>
        </p:nvSpPr>
        <p:spPr>
          <a:xfrm>
            <a:off x="14492600" y="7448875"/>
            <a:ext cx="232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 Pases Completos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e80d0a15e1_0_0"/>
          <p:cNvSpPr/>
          <p:nvPr/>
        </p:nvSpPr>
        <p:spPr>
          <a:xfrm>
            <a:off x="14238568" y="79629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e80d0a15e1_0_0"/>
          <p:cNvSpPr/>
          <p:nvPr/>
        </p:nvSpPr>
        <p:spPr>
          <a:xfrm>
            <a:off x="14492600" y="8198175"/>
            <a:ext cx="1826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Entradas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e80d0a15e1_0_0"/>
          <p:cNvSpPr/>
          <p:nvPr/>
        </p:nvSpPr>
        <p:spPr>
          <a:xfrm>
            <a:off x="14238568" y="86995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e80d0a15e1_0_0"/>
          <p:cNvSpPr/>
          <p:nvPr/>
        </p:nvSpPr>
        <p:spPr>
          <a:xfrm>
            <a:off x="14492600" y="8934775"/>
            <a:ext cx="2421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confirmar (TBC)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e80d0a15e1_0_0"/>
          <p:cNvSpPr/>
          <p:nvPr/>
        </p:nvSpPr>
        <p:spPr>
          <a:xfrm>
            <a:off x="14238568" y="9436100"/>
            <a:ext cx="40137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e80d0a15e1_0_0"/>
          <p:cNvSpPr/>
          <p:nvPr/>
        </p:nvSpPr>
        <p:spPr>
          <a:xfrm>
            <a:off x="14492600" y="9684075"/>
            <a:ext cx="376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---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e80d0a15e1_0_0"/>
          <p:cNvSpPr/>
          <p:nvPr/>
        </p:nvSpPr>
        <p:spPr>
          <a:xfrm>
            <a:off x="14238568" y="10198100"/>
            <a:ext cx="40137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e80d0a15e1_0_0"/>
          <p:cNvSpPr/>
          <p:nvPr/>
        </p:nvSpPr>
        <p:spPr>
          <a:xfrm>
            <a:off x="14492600" y="10433375"/>
            <a:ext cx="1126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Estándar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e80d0a15e1_0_0"/>
          <p:cNvSpPr/>
          <p:nvPr/>
        </p:nvSpPr>
        <p:spPr>
          <a:xfrm>
            <a:off x="14238568" y="10934700"/>
            <a:ext cx="40137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e80d0a15e1_0_0"/>
          <p:cNvSpPr/>
          <p:nvPr/>
        </p:nvSpPr>
        <p:spPr>
          <a:xfrm>
            <a:off x="14492600" y="11176325"/>
            <a:ext cx="3237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Compacto (módulo 2*2m)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e80d0a15e1_0_0"/>
          <p:cNvSpPr/>
          <p:nvPr/>
        </p:nvSpPr>
        <p:spPr>
          <a:xfrm>
            <a:off x="18303101" y="64643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e80d0a15e1_0_0"/>
          <p:cNvSpPr/>
          <p:nvPr/>
        </p:nvSpPr>
        <p:spPr>
          <a:xfrm>
            <a:off x="18557121" y="6699575"/>
            <a:ext cx="1263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e80d0a15e1_0_0"/>
          <p:cNvSpPr/>
          <p:nvPr/>
        </p:nvSpPr>
        <p:spPr>
          <a:xfrm>
            <a:off x="18303101" y="7200900"/>
            <a:ext cx="4001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e80d0a15e1_0_0"/>
          <p:cNvSpPr/>
          <p:nvPr/>
        </p:nvSpPr>
        <p:spPr>
          <a:xfrm>
            <a:off x="18557120" y="7448875"/>
            <a:ext cx="2551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Pases Completos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e80d0a15e1_0_0"/>
          <p:cNvSpPr/>
          <p:nvPr/>
        </p:nvSpPr>
        <p:spPr>
          <a:xfrm>
            <a:off x="18303101" y="79629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e80d0a15e1_0_0"/>
          <p:cNvSpPr/>
          <p:nvPr/>
        </p:nvSpPr>
        <p:spPr>
          <a:xfrm>
            <a:off x="18557123" y="8198175"/>
            <a:ext cx="1126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Entrada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e80d0a15e1_0_0"/>
          <p:cNvSpPr/>
          <p:nvPr/>
        </p:nvSpPr>
        <p:spPr>
          <a:xfrm>
            <a:off x="18303101" y="86995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e80d0a15e1_0_0"/>
          <p:cNvSpPr/>
          <p:nvPr/>
        </p:nvSpPr>
        <p:spPr>
          <a:xfrm>
            <a:off x="18557125" y="8934775"/>
            <a:ext cx="2421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confirmar (TBC)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e80d0a15e1_0_0"/>
          <p:cNvSpPr/>
          <p:nvPr/>
        </p:nvSpPr>
        <p:spPr>
          <a:xfrm>
            <a:off x="18303101" y="9436100"/>
            <a:ext cx="4001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e80d0a15e1_0_0"/>
          <p:cNvSpPr/>
          <p:nvPr/>
        </p:nvSpPr>
        <p:spPr>
          <a:xfrm>
            <a:off x="18557133" y="9684075"/>
            <a:ext cx="376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---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e80d0a15e1_0_0"/>
          <p:cNvSpPr/>
          <p:nvPr/>
        </p:nvSpPr>
        <p:spPr>
          <a:xfrm>
            <a:off x="18303101" y="10198100"/>
            <a:ext cx="4001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e80d0a15e1_0_0"/>
          <p:cNvSpPr/>
          <p:nvPr/>
        </p:nvSpPr>
        <p:spPr>
          <a:xfrm>
            <a:off x="18557133" y="10433375"/>
            <a:ext cx="1380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Solo Digital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e80d0a15e1_0_0"/>
          <p:cNvSpPr/>
          <p:nvPr/>
        </p:nvSpPr>
        <p:spPr>
          <a:xfrm>
            <a:off x="18303101" y="10934700"/>
            <a:ext cx="40011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e80d0a15e1_0_0"/>
          <p:cNvSpPr/>
          <p:nvPr/>
        </p:nvSpPr>
        <p:spPr>
          <a:xfrm>
            <a:off x="18557133" y="11176325"/>
            <a:ext cx="376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---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e80d0a15e1_0_0"/>
          <p:cNvSpPr/>
          <p:nvPr/>
        </p:nvSpPr>
        <p:spPr>
          <a:xfrm>
            <a:off x="2082998" y="12211225"/>
            <a:ext cx="20221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(*) Las oportunidades para disertar están sujetas a disponibilidad y a la confirmación final del organizador</a:t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50" name="Google Shape;350;g3e80d0a15e1_0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7046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e80d0a15e1_0_101"/>
          <p:cNvSpPr/>
          <p:nvPr/>
        </p:nvSpPr>
        <p:spPr>
          <a:xfrm>
            <a:off x="0" y="13246100"/>
            <a:ext cx="24387000" cy="4698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e80d0a15e1_0_101"/>
          <p:cNvSpPr/>
          <p:nvPr/>
        </p:nvSpPr>
        <p:spPr>
          <a:xfrm>
            <a:off x="2083073" y="3975100"/>
            <a:ext cx="85863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53" name="Google Shape;353;g3e80d0a15e1_0_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73" y="39370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e80d0a15e1_0_101"/>
          <p:cNvSpPr/>
          <p:nvPr/>
        </p:nvSpPr>
        <p:spPr>
          <a:xfrm>
            <a:off x="2083076" y="4330700"/>
            <a:ext cx="10693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Complementos de Patrocinio </a:t>
            </a:r>
            <a:endParaRPr b="0" i="0" sz="4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e80d0a15e1_0_101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e80d0a15e1_0_101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57" name="Google Shape;357;g3e80d0a15e1_0_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06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8" name="Google Shape;358;g3e80d0a15e1_0_1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9" name="Google Shape;359;g3e80d0a15e1_0_10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67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60" name="Google Shape;360;g3e80d0a15e1_0_1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e80d0a15e1_0_101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62" name="Google Shape;362;g3e80d0a15e1_0_10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g3e80d0a15e1_0_101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64" name="Google Shape;364;g3e80d0a15e1_0_10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e80d0a15e1_0_101"/>
          <p:cNvSpPr/>
          <p:nvPr/>
        </p:nvSpPr>
        <p:spPr>
          <a:xfrm>
            <a:off x="9853094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66" name="Google Shape;366;g3e80d0a15e1_0_10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94" y="2360166"/>
            <a:ext cx="1705420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3e80d0a15e1_0_101"/>
          <p:cNvSpPr/>
          <p:nvPr/>
        </p:nvSpPr>
        <p:spPr>
          <a:xfrm>
            <a:off x="2083073" y="5689600"/>
            <a:ext cx="67065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e80d0a15e1_0_101"/>
          <p:cNvSpPr/>
          <p:nvPr/>
        </p:nvSpPr>
        <p:spPr>
          <a:xfrm>
            <a:off x="2337106" y="5943925"/>
            <a:ext cx="707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e80d0a15e1_0_101"/>
          <p:cNvSpPr/>
          <p:nvPr/>
        </p:nvSpPr>
        <p:spPr>
          <a:xfrm>
            <a:off x="8840359" y="5689600"/>
            <a:ext cx="67191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e80d0a15e1_0_101"/>
          <p:cNvSpPr/>
          <p:nvPr/>
        </p:nvSpPr>
        <p:spPr>
          <a:xfrm>
            <a:off x="9094405" y="5943925"/>
            <a:ext cx="1494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PRECIO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e80d0a15e1_0_101"/>
          <p:cNvSpPr/>
          <p:nvPr/>
        </p:nvSpPr>
        <p:spPr>
          <a:xfrm>
            <a:off x="15610347" y="5689600"/>
            <a:ext cx="6693600" cy="723900"/>
          </a:xfrm>
          <a:prstGeom prst="rect">
            <a:avLst/>
          </a:prstGeom>
          <a:solidFill>
            <a:srgbClr val="6DEF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e80d0a15e1_0_101"/>
          <p:cNvSpPr/>
          <p:nvPr/>
        </p:nvSpPr>
        <p:spPr>
          <a:xfrm>
            <a:off x="15864370" y="5943925"/>
            <a:ext cx="3087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DISPONIBILIDAD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e80d0a15e1_0_101"/>
          <p:cNvSpPr/>
          <p:nvPr/>
        </p:nvSpPr>
        <p:spPr>
          <a:xfrm>
            <a:off x="2083073" y="6464300"/>
            <a:ext cx="67065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e80d0a15e1_0_101"/>
          <p:cNvSpPr/>
          <p:nvPr/>
        </p:nvSpPr>
        <p:spPr>
          <a:xfrm>
            <a:off x="2337100" y="6699575"/>
            <a:ext cx="5773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Derechos de nombramiento para la cena de gala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e80d0a15e1_0_101"/>
          <p:cNvSpPr/>
          <p:nvPr/>
        </p:nvSpPr>
        <p:spPr>
          <a:xfrm>
            <a:off x="2083073" y="7200900"/>
            <a:ext cx="67065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e80d0a15e1_0_101"/>
          <p:cNvSpPr/>
          <p:nvPr/>
        </p:nvSpPr>
        <p:spPr>
          <a:xfrm>
            <a:off x="2337096" y="7448875"/>
            <a:ext cx="4400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Aplicación Oficial del Congreso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e80d0a15e1_0_101"/>
          <p:cNvSpPr/>
          <p:nvPr/>
        </p:nvSpPr>
        <p:spPr>
          <a:xfrm>
            <a:off x="2083073" y="7962900"/>
            <a:ext cx="67065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e80d0a15e1_0_101"/>
          <p:cNvSpPr/>
          <p:nvPr/>
        </p:nvSpPr>
        <p:spPr>
          <a:xfrm>
            <a:off x="2337097" y="8198175"/>
            <a:ext cx="3336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Lanyards y Credenciales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e80d0a15e1_0_101"/>
          <p:cNvSpPr/>
          <p:nvPr/>
        </p:nvSpPr>
        <p:spPr>
          <a:xfrm>
            <a:off x="2083073" y="8699500"/>
            <a:ext cx="67065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e80d0a15e1_0_101"/>
          <p:cNvSpPr/>
          <p:nvPr/>
        </p:nvSpPr>
        <p:spPr>
          <a:xfrm>
            <a:off x="2337100" y="8934775"/>
            <a:ext cx="56610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Patrocinador de Pausa para Café (por día)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e80d0a15e1_0_101"/>
          <p:cNvSpPr/>
          <p:nvPr/>
        </p:nvSpPr>
        <p:spPr>
          <a:xfrm>
            <a:off x="2083073" y="9436100"/>
            <a:ext cx="67065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e80d0a15e1_0_101"/>
          <p:cNvSpPr/>
          <p:nvPr/>
        </p:nvSpPr>
        <p:spPr>
          <a:xfrm>
            <a:off x="2337106" y="9684075"/>
            <a:ext cx="3590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Visitas Técnicas (BCN o Lleida)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e80d0a15e1_0_101"/>
          <p:cNvSpPr/>
          <p:nvPr/>
        </p:nvSpPr>
        <p:spPr>
          <a:xfrm>
            <a:off x="2083073" y="10198100"/>
            <a:ext cx="67065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e80d0a15e1_0_101"/>
          <p:cNvSpPr/>
          <p:nvPr/>
        </p:nvSpPr>
        <p:spPr>
          <a:xfrm>
            <a:off x="2337098" y="10433375"/>
            <a:ext cx="4400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Anuncio de página completa en Actas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e80d0a15e1_0_101"/>
          <p:cNvSpPr/>
          <p:nvPr/>
        </p:nvSpPr>
        <p:spPr>
          <a:xfrm>
            <a:off x="2083073" y="10934700"/>
            <a:ext cx="67065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e80d0a15e1_0_101"/>
          <p:cNvSpPr/>
          <p:nvPr/>
        </p:nvSpPr>
        <p:spPr>
          <a:xfrm>
            <a:off x="2337099" y="11176325"/>
            <a:ext cx="3728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Entrevista en Video Producida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e80d0a15e1_0_101"/>
          <p:cNvSpPr/>
          <p:nvPr/>
        </p:nvSpPr>
        <p:spPr>
          <a:xfrm>
            <a:off x="8840359" y="6464300"/>
            <a:ext cx="6719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e80d0a15e1_0_101"/>
          <p:cNvSpPr/>
          <p:nvPr/>
        </p:nvSpPr>
        <p:spPr>
          <a:xfrm>
            <a:off x="9094404" y="6699575"/>
            <a:ext cx="1494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e80d0a15e1_0_101"/>
          <p:cNvSpPr/>
          <p:nvPr/>
        </p:nvSpPr>
        <p:spPr>
          <a:xfrm>
            <a:off x="8840359" y="7200900"/>
            <a:ext cx="6719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e80d0a15e1_0_101"/>
          <p:cNvSpPr/>
          <p:nvPr/>
        </p:nvSpPr>
        <p:spPr>
          <a:xfrm>
            <a:off x="9094403" y="7448875"/>
            <a:ext cx="1411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e80d0a15e1_0_101"/>
          <p:cNvSpPr/>
          <p:nvPr/>
        </p:nvSpPr>
        <p:spPr>
          <a:xfrm>
            <a:off x="8840359" y="7962900"/>
            <a:ext cx="6719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3e80d0a15e1_0_101"/>
          <p:cNvSpPr/>
          <p:nvPr/>
        </p:nvSpPr>
        <p:spPr>
          <a:xfrm>
            <a:off x="9094405" y="8198175"/>
            <a:ext cx="1494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e80d0a15e1_0_101"/>
          <p:cNvSpPr/>
          <p:nvPr/>
        </p:nvSpPr>
        <p:spPr>
          <a:xfrm>
            <a:off x="8840359" y="8699500"/>
            <a:ext cx="6719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e80d0a15e1_0_101"/>
          <p:cNvSpPr/>
          <p:nvPr/>
        </p:nvSpPr>
        <p:spPr>
          <a:xfrm>
            <a:off x="9094405" y="8934775"/>
            <a:ext cx="1411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e80d0a15e1_0_101"/>
          <p:cNvSpPr/>
          <p:nvPr/>
        </p:nvSpPr>
        <p:spPr>
          <a:xfrm>
            <a:off x="8840359" y="9436100"/>
            <a:ext cx="67191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e80d0a15e1_0_101"/>
          <p:cNvSpPr/>
          <p:nvPr/>
        </p:nvSpPr>
        <p:spPr>
          <a:xfrm>
            <a:off x="9094406" y="9684075"/>
            <a:ext cx="1587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e80d0a15e1_0_101"/>
          <p:cNvSpPr/>
          <p:nvPr/>
        </p:nvSpPr>
        <p:spPr>
          <a:xfrm>
            <a:off x="8840359" y="10198100"/>
            <a:ext cx="67191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e80d0a15e1_0_101"/>
          <p:cNvSpPr/>
          <p:nvPr/>
        </p:nvSpPr>
        <p:spPr>
          <a:xfrm>
            <a:off x="9094407" y="10433375"/>
            <a:ext cx="17055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2.000 €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e80d0a15e1_0_101"/>
          <p:cNvSpPr/>
          <p:nvPr/>
        </p:nvSpPr>
        <p:spPr>
          <a:xfrm>
            <a:off x="8840359" y="10934700"/>
            <a:ext cx="67191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e80d0a15e1_0_101"/>
          <p:cNvSpPr/>
          <p:nvPr/>
        </p:nvSpPr>
        <p:spPr>
          <a:xfrm>
            <a:off x="9094405" y="11176325"/>
            <a:ext cx="1494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2.500 €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e80d0a15e1_0_101"/>
          <p:cNvSpPr/>
          <p:nvPr/>
        </p:nvSpPr>
        <p:spPr>
          <a:xfrm>
            <a:off x="15610347" y="6464300"/>
            <a:ext cx="6693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e80d0a15e1_0_101"/>
          <p:cNvSpPr/>
          <p:nvPr/>
        </p:nvSpPr>
        <p:spPr>
          <a:xfrm>
            <a:off x="15864381" y="6699575"/>
            <a:ext cx="1494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(Exclusivo)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e80d0a15e1_0_101"/>
          <p:cNvSpPr/>
          <p:nvPr/>
        </p:nvSpPr>
        <p:spPr>
          <a:xfrm>
            <a:off x="15610347" y="7200900"/>
            <a:ext cx="66936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e80d0a15e1_0_101"/>
          <p:cNvSpPr/>
          <p:nvPr/>
        </p:nvSpPr>
        <p:spPr>
          <a:xfrm>
            <a:off x="15864381" y="7448875"/>
            <a:ext cx="1494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(Exclusivo)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e80d0a15e1_0_101"/>
          <p:cNvSpPr/>
          <p:nvPr/>
        </p:nvSpPr>
        <p:spPr>
          <a:xfrm>
            <a:off x="15610347" y="7962900"/>
            <a:ext cx="6693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e80d0a15e1_0_101"/>
          <p:cNvSpPr/>
          <p:nvPr/>
        </p:nvSpPr>
        <p:spPr>
          <a:xfrm>
            <a:off x="15864381" y="8198175"/>
            <a:ext cx="14946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(Exclusivo)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e80d0a15e1_0_101"/>
          <p:cNvSpPr/>
          <p:nvPr/>
        </p:nvSpPr>
        <p:spPr>
          <a:xfrm>
            <a:off x="15610347" y="8699500"/>
            <a:ext cx="6693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e80d0a15e1_0_101"/>
          <p:cNvSpPr/>
          <p:nvPr/>
        </p:nvSpPr>
        <p:spPr>
          <a:xfrm>
            <a:off x="15864371" y="8934775"/>
            <a:ext cx="20511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disponibles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e80d0a15e1_0_101"/>
          <p:cNvSpPr/>
          <p:nvPr/>
        </p:nvSpPr>
        <p:spPr>
          <a:xfrm>
            <a:off x="15610347" y="9436100"/>
            <a:ext cx="6693600" cy="7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e80d0a15e1_0_101"/>
          <p:cNvSpPr/>
          <p:nvPr/>
        </p:nvSpPr>
        <p:spPr>
          <a:xfrm>
            <a:off x="15864371" y="9684075"/>
            <a:ext cx="2294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 disponibles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e80d0a15e1_0_101"/>
          <p:cNvSpPr/>
          <p:nvPr/>
        </p:nvSpPr>
        <p:spPr>
          <a:xfrm>
            <a:off x="15610347" y="10198100"/>
            <a:ext cx="6693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e80d0a15e1_0_101"/>
          <p:cNvSpPr/>
          <p:nvPr/>
        </p:nvSpPr>
        <p:spPr>
          <a:xfrm>
            <a:off x="15864381" y="10433375"/>
            <a:ext cx="11643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Ilimitado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e80d0a15e1_0_101"/>
          <p:cNvSpPr/>
          <p:nvPr/>
        </p:nvSpPr>
        <p:spPr>
          <a:xfrm>
            <a:off x="15610347" y="10934700"/>
            <a:ext cx="6693600" cy="6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e80d0a15e1_0_101"/>
          <p:cNvSpPr/>
          <p:nvPr/>
        </p:nvSpPr>
        <p:spPr>
          <a:xfrm>
            <a:off x="15864370" y="11176325"/>
            <a:ext cx="1826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 espacios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20" name="Google Shape;420;g3e80d0a15e1_0_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4" cy="13715999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3e80d0a15e1_0_170"/>
          <p:cNvSpPr/>
          <p:nvPr/>
        </p:nvSpPr>
        <p:spPr>
          <a:xfrm>
            <a:off x="0" y="13246100"/>
            <a:ext cx="24387000" cy="4698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3e80d0a15e1_0_170"/>
          <p:cNvSpPr/>
          <p:nvPr/>
        </p:nvSpPr>
        <p:spPr>
          <a:xfrm>
            <a:off x="2083073" y="3924300"/>
            <a:ext cx="8586300" cy="81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23" name="Google Shape;423;g3e80d0a15e1_0_1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73" y="38862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3e80d0a15e1_0_170"/>
          <p:cNvSpPr/>
          <p:nvPr/>
        </p:nvSpPr>
        <p:spPr>
          <a:xfrm>
            <a:off x="2083062" y="4152900"/>
            <a:ext cx="106566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000"/>
              <a:buFont typeface="Helvetica Neue"/>
              <a:buNone/>
            </a:pPr>
            <a:r>
              <a:rPr b="1" i="0" lang="en-US" sz="3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Oportunidades de Exposición: El Jardín WGIC </a:t>
            </a:r>
            <a:endParaRPr b="0" i="0" sz="3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e80d0a15e1_0_170"/>
          <p:cNvSpPr/>
          <p:nvPr/>
        </p:nvSpPr>
        <p:spPr>
          <a:xfrm>
            <a:off x="2083075" y="5338225"/>
            <a:ext cx="10392900" cy="188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solución llave en mano para una presencia fluida y de alto impacto.</a:t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Nuestra área de exposición está diseñada para ser el vibrante corazón del congreso. Para maximizar el networking, todos los almuerzos y pausas para café del congreso se llevarán a cabo dentro de la Zona Expo, asegurando un flujo constante de delegados y alta visibilidad para cada expositor durante todo el día. Para simplificar la logística, todos los stands son gestionados y producidos directamente por los proveedores oficiales del lugar, ofreciendo una experiencia profesional, unificada y sin complicaciones. </a:t>
            </a:r>
            <a:endParaRPr b="0" i="0" sz="2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6" name="Google Shape;426;g3e80d0a15e1_0_170"/>
          <p:cNvSpPr/>
          <p:nvPr/>
        </p:nvSpPr>
        <p:spPr>
          <a:xfrm>
            <a:off x="2083076" y="7505700"/>
            <a:ext cx="86745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Jardín GRANDE (Stand Premium)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mejor opción para líderes del mercado que buscan la máxima visibilidad en el área de exposición. 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7" name="Google Shape;427;g3e80d0a15e1_0_170"/>
          <p:cNvSpPr/>
          <p:nvPr/>
        </p:nvSpPr>
        <p:spPr>
          <a:xfrm>
            <a:off x="2083075" y="9067800"/>
            <a:ext cx="9197400" cy="2679600"/>
          </a:xfrm>
          <a:prstGeom prst="rect">
            <a:avLst/>
          </a:prstGeom>
          <a:noFill/>
          <a:ln cap="flat" cmpd="sng" w="12700">
            <a:solidFill>
              <a:srgbClr val="6DEF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e80d0a15e1_0_170"/>
          <p:cNvSpPr/>
          <p:nvPr/>
        </p:nvSpPr>
        <p:spPr>
          <a:xfrm>
            <a:off x="2419676" y="9235500"/>
            <a:ext cx="8586300" cy="21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Espacio: Stand de exposición de gran formato 4 m x 4 m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Formato: Solución "llave en mano" completamente producida con un diseño unificado de alta gama.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Servicios incluidos: Luces LED, mostrador de información, electricidad (tablero eléctrico de 3,3 kW (1 enchufe disponible), Wi-Fi de alta velocidad, limpieza previa a la inauguración.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Branding: Letras negras de 10 cm de alto (20 letras incluidas).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Espacio dedicado para el logotipo de la empresa y gráficos personalizados.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Mobiliario: 1 mesa de reunión y 4 sillas o taburetes de bar.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Personal: Incluye 3 Pases Completos para el Congreso. 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9" name="Google Shape;429;g3e80d0a15e1_0_170"/>
          <p:cNvSpPr/>
          <p:nvPr/>
        </p:nvSpPr>
        <p:spPr>
          <a:xfrm>
            <a:off x="2083073" y="12069233"/>
            <a:ext cx="10093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Inversión: 8.000 €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e80d0a15e1_0_170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e80d0a15e1_0_170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32" name="Google Shape;432;g3e80d0a15e1_0_1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30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3" name="Google Shape;433;g3e80d0a15e1_0_1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4" name="Google Shape;434;g3e80d0a15e1_0_1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92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5" name="Google Shape;435;g3e80d0a15e1_0_17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g3e80d0a15e1_0_170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37" name="Google Shape;437;g3e80d0a15e1_0_17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g3e80d0a15e1_0_170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39" name="Google Shape;439;g3e80d0a15e1_0_17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66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g3e80d0a15e1_0_170"/>
          <p:cNvSpPr/>
          <p:nvPr/>
        </p:nvSpPr>
        <p:spPr>
          <a:xfrm>
            <a:off x="9853069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41" name="Google Shape;441;g3e80d0a15e1_0_17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69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42" name="Google Shape;442;g3e80d0a15e1_0_17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500" y="0"/>
            <a:ext cx="10656633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43" name="Google Shape;443;g3e80d0a15e1_0_17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6232729" y="838200"/>
            <a:ext cx="5626802" cy="496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44" name="Google Shape;444;g3e80d0a15e1_0_17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118414" y="7531100"/>
            <a:ext cx="5880834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g3e80d0a15e1_0_170"/>
          <p:cNvSpPr/>
          <p:nvPr/>
        </p:nvSpPr>
        <p:spPr>
          <a:xfrm>
            <a:off x="16084543" y="5837767"/>
            <a:ext cx="59487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Esquema de Stand.</a:t>
            </a:r>
            <a:endParaRPr b="1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Mobiliario final por definir.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 la empresa lo desea, puede actualizar el equipo básico o la señalización incluidos en el precio. Esto se puede verificar directamente con el lugar y los organizadores. 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51" name="Google Shape;451;g3e80d0a15e1_0_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4" cy="1371599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g3e80d0a15e1_0_200"/>
          <p:cNvSpPr/>
          <p:nvPr/>
        </p:nvSpPr>
        <p:spPr>
          <a:xfrm>
            <a:off x="0" y="13246100"/>
            <a:ext cx="24387000" cy="4698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e80d0a15e1_0_200"/>
          <p:cNvSpPr/>
          <p:nvPr/>
        </p:nvSpPr>
        <p:spPr>
          <a:xfrm>
            <a:off x="2083073" y="4089400"/>
            <a:ext cx="8586300" cy="59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54" name="Google Shape;454;g3e80d0a15e1_0_2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73" y="40513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g3e80d0a15e1_0_200"/>
          <p:cNvSpPr/>
          <p:nvPr/>
        </p:nvSpPr>
        <p:spPr>
          <a:xfrm>
            <a:off x="2083075" y="4318000"/>
            <a:ext cx="106566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000"/>
              <a:buFont typeface="Helvetica Neue"/>
              <a:buNone/>
            </a:pPr>
            <a:r>
              <a:rPr b="1" i="0" lang="en-US" sz="3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Oportunidades de Exposición: El Jardín WGIC </a:t>
            </a:r>
            <a:endParaRPr b="0" i="0" sz="3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e80d0a15e1_0_200"/>
          <p:cNvSpPr/>
          <p:nvPr/>
        </p:nvSpPr>
        <p:spPr>
          <a:xfrm>
            <a:off x="2083075" y="5105400"/>
            <a:ext cx="76662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Jardín MEDIO (Stand Estándar)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mejor opción para líderes del mercado que buscan la máxima visibilidad en el área de exposición. 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7" name="Google Shape;457;g3e80d0a15e1_0_200"/>
          <p:cNvSpPr/>
          <p:nvPr/>
        </p:nvSpPr>
        <p:spPr>
          <a:xfrm>
            <a:off x="2083075" y="6667500"/>
            <a:ext cx="9253500" cy="2679600"/>
          </a:xfrm>
          <a:prstGeom prst="rect">
            <a:avLst/>
          </a:prstGeom>
          <a:noFill/>
          <a:ln cap="flat" cmpd="sng" w="12700">
            <a:solidFill>
              <a:srgbClr val="6DEF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e80d0a15e1_0_200"/>
          <p:cNvSpPr/>
          <p:nvPr/>
        </p:nvSpPr>
        <p:spPr>
          <a:xfrm>
            <a:off x="2419675" y="6835200"/>
            <a:ext cx="8786100" cy="21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Espacio: Stand de exposición de gran formato 3 m x 3 m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Formato: Solución "llave en mano" completamente producida con un diseño unificado de alta gama.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Servicios incluidos: Luces LED, mostrador de información, electricidad (tablero eléctrico de 3,3 kW (1 enchufe disponible), Wi-Fi de alta velocidad, limpieza previa a la inauguración.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Branding: Letras negras de 10 cm de alto (20 letras incluidas).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Espacio dedicado para el logotipo de la empresa y gráficos personalizados.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Mobiliario: 1 mesa de reunión y 2 taburetes de bar.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Personal: Incluye 2 Pases Completos para el Congreso. 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9" name="Google Shape;459;g3e80d0a15e1_0_200"/>
          <p:cNvSpPr/>
          <p:nvPr/>
        </p:nvSpPr>
        <p:spPr>
          <a:xfrm>
            <a:off x="2083073" y="9745133"/>
            <a:ext cx="10093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Inversión: 5.000 €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e80d0a15e1_0_200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e80d0a15e1_0_200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62" name="Google Shape;462;g3e80d0a15e1_0_2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30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63" name="Google Shape;463;g3e80d0a15e1_0_2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64" name="Google Shape;464;g3e80d0a15e1_0_20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65" name="Google Shape;465;g3e80d0a15e1_0_20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g3e80d0a15e1_0_200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67" name="Google Shape;467;g3e80d0a15e1_0_20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3e80d0a15e1_0_200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69" name="Google Shape;469;g3e80d0a15e1_0_20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89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3e80d0a15e1_0_200"/>
          <p:cNvSpPr/>
          <p:nvPr/>
        </p:nvSpPr>
        <p:spPr>
          <a:xfrm>
            <a:off x="9853069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71" name="Google Shape;471;g3e80d0a15e1_0_20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69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72" name="Google Shape;472;g3e80d0a15e1_0_20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500" y="0"/>
            <a:ext cx="10656633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73" name="Google Shape;473;g3e80d0a15e1_0_20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6232729" y="838200"/>
            <a:ext cx="5626802" cy="496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74" name="Google Shape;474;g3e80d0a15e1_0_20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118414" y="7531100"/>
            <a:ext cx="5880834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e80d0a15e1_0_200"/>
          <p:cNvSpPr/>
          <p:nvPr/>
        </p:nvSpPr>
        <p:spPr>
          <a:xfrm>
            <a:off x="16084543" y="5837767"/>
            <a:ext cx="59487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Esquema de Stand.</a:t>
            </a:r>
            <a:endParaRPr b="1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Mobiliario final por definir.</a:t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 la empresa lo desea, puede actualizar el equipo básico o la señalización incluidos en el precio. Esto se puede verificar directamente con el lugar y los organizadores. </a:t>
            </a:r>
            <a:endParaRPr b="1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81" name="Google Shape;481;g3e80d0a15e1_0_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4" cy="13715999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g3e80d0a15e1_0_229"/>
          <p:cNvSpPr/>
          <p:nvPr/>
        </p:nvSpPr>
        <p:spPr>
          <a:xfrm>
            <a:off x="0" y="13246100"/>
            <a:ext cx="24387000" cy="4698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e80d0a15e1_0_229"/>
          <p:cNvSpPr/>
          <p:nvPr/>
        </p:nvSpPr>
        <p:spPr>
          <a:xfrm>
            <a:off x="2083073" y="4610100"/>
            <a:ext cx="8586300" cy="53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84" name="Google Shape;484;g3e80d0a15e1_0_2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73" y="457200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g3e80d0a15e1_0_229"/>
          <p:cNvSpPr/>
          <p:nvPr/>
        </p:nvSpPr>
        <p:spPr>
          <a:xfrm>
            <a:off x="2083062" y="4838700"/>
            <a:ext cx="108855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DEF70"/>
              </a:buClr>
              <a:buSzPts val="4000"/>
              <a:buFont typeface="Helvetica Neue"/>
              <a:buNone/>
            </a:pPr>
            <a:r>
              <a:rPr b="1" i="0" lang="en-US" sz="3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Oportunidades de Exposición: El Jardín WGIC </a:t>
            </a:r>
            <a:endParaRPr b="0" i="0" sz="3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e80d0a15e1_0_229"/>
          <p:cNvSpPr/>
          <p:nvPr/>
        </p:nvSpPr>
        <p:spPr>
          <a:xfrm>
            <a:off x="2083073" y="5854700"/>
            <a:ext cx="62619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Flor (Stand Compacto / Pod)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opción eficiente y rentable para startups y empresas especializadas. 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7" name="Google Shape;487;g3e80d0a15e1_0_229"/>
          <p:cNvSpPr/>
          <p:nvPr/>
        </p:nvSpPr>
        <p:spPr>
          <a:xfrm>
            <a:off x="2083063" y="7399875"/>
            <a:ext cx="8586300" cy="1947300"/>
          </a:xfrm>
          <a:prstGeom prst="rect">
            <a:avLst/>
          </a:prstGeom>
          <a:noFill/>
          <a:ln cap="flat" cmpd="sng" w="12700">
            <a:solidFill>
              <a:srgbClr val="6DEF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3e80d0a15e1_0_229"/>
          <p:cNvSpPr/>
          <p:nvPr/>
        </p:nvSpPr>
        <p:spPr>
          <a:xfrm>
            <a:off x="2419667" y="7399867"/>
            <a:ext cx="7980900" cy="166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Espacio: Estación de trabajo de exposición compacta (concepto de stand por definir)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Formato: Diseño minimalista para facilitar la interacción rápida.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Servicios incluidos: Electricidad (1 enchufe) y Wi-Fi de alta velocidad.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Branding: exhibición estilo tótem (proporcionada e impresa por la organización)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Mobiliario: 1 mesa y 2 sillas o taburetes de bar.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Personal: Incluye 1 Pase Completo para el Congreso. </a:t>
            </a:r>
            <a:endParaRPr b="0" i="0" sz="16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9" name="Google Shape;489;g3e80d0a15e1_0_229"/>
          <p:cNvSpPr/>
          <p:nvPr/>
        </p:nvSpPr>
        <p:spPr>
          <a:xfrm>
            <a:off x="2083073" y="9745133"/>
            <a:ext cx="10093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Inversión: 3.000 €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e80d0a15e1_0_229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e80d0a15e1_0_229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92" name="Google Shape;492;g3e80d0a15e1_0_2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30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3" name="Google Shape;493;g3e80d0a15e1_0_2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4" name="Google Shape;494;g3e80d0a15e1_0_2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95" name="Google Shape;495;g3e80d0a15e1_0_2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e80d0a15e1_0_229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97" name="Google Shape;497;g3e80d0a15e1_0_2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g3e80d0a15e1_0_229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99" name="Google Shape;499;g3e80d0a15e1_0_2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89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e80d0a15e1_0_229"/>
          <p:cNvSpPr/>
          <p:nvPr/>
        </p:nvSpPr>
        <p:spPr>
          <a:xfrm>
            <a:off x="9853069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01" name="Google Shape;501;g3e80d0a15e1_0_2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69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02" name="Google Shape;502;g3e80d0a15e1_0_2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730500" y="0"/>
            <a:ext cx="10656633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03" name="Google Shape;503;g3e80d0a15e1_0_22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759336" y="1676400"/>
            <a:ext cx="8598976" cy="98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g3e80d0a15e1_0_229"/>
          <p:cNvSpPr/>
          <p:nvPr/>
        </p:nvSpPr>
        <p:spPr>
          <a:xfrm>
            <a:off x="16082424" y="11832175"/>
            <a:ext cx="59400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Renderización indicativa. Formato final por definir.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10" name="Google Shape;5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9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12" name="Google Shape;5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3060" y="3753977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19"/>
          <p:cNvSpPr/>
          <p:nvPr/>
        </p:nvSpPr>
        <p:spPr>
          <a:xfrm>
            <a:off x="2083060" y="4046077"/>
            <a:ext cx="186447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Únete a los líderes que ya se han comprometido con WGIC26 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9"/>
          <p:cNvSpPr/>
          <p:nvPr/>
        </p:nvSpPr>
        <p:spPr>
          <a:xfrm>
            <a:off x="2083073" y="2082800"/>
            <a:ext cx="94755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2083073" y="2088108"/>
            <a:ext cx="16569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16" name="Google Shape;51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130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17" name="Google Shape;51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9765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18" name="Google Shape;51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34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19" name="Google Shape;51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6552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19"/>
          <p:cNvSpPr/>
          <p:nvPr/>
        </p:nvSpPr>
        <p:spPr>
          <a:xfrm>
            <a:off x="7720131" y="2275681"/>
            <a:ext cx="624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21" name="Google Shape;521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57987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9"/>
          <p:cNvSpPr/>
          <p:nvPr/>
        </p:nvSpPr>
        <p:spPr>
          <a:xfrm>
            <a:off x="8684515" y="2302520"/>
            <a:ext cx="828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23" name="Google Shape;523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5460" y="2212578"/>
            <a:ext cx="1046789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9"/>
          <p:cNvSpPr/>
          <p:nvPr/>
        </p:nvSpPr>
        <p:spPr>
          <a:xfrm>
            <a:off x="9853069" y="2383780"/>
            <a:ext cx="17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25" name="Google Shape;525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53069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1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147025" y="5132950"/>
            <a:ext cx="20099727" cy="6977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84636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32" name="Google Shape;5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629803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6"/>
          <p:cNvSpPr/>
          <p:nvPr/>
        </p:nvSpPr>
        <p:spPr>
          <a:xfrm>
            <a:off x="2029274" y="7076894"/>
            <a:ext cx="94755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1757100" y="4277675"/>
            <a:ext cx="8519100" cy="18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Únete a la comunidad global que da forma al futuro de las ciudades sostenibles.</a:t>
            </a:r>
            <a:endParaRPr b="1" i="0" sz="4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1757100" y="6937650"/>
            <a:ext cx="7149900" cy="1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Contacta al equipo de patrocinio del WGIC 2026</a:t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6" name="Google Shape;536;p16"/>
          <p:cNvSpPr/>
          <p:nvPr/>
        </p:nvSpPr>
        <p:spPr>
          <a:xfrm>
            <a:off x="2083060" y="2082800"/>
            <a:ext cx="9475384" cy="998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2083060" y="2088108"/>
            <a:ext cx="1656823" cy="987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38" name="Google Shape;5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8118" y="1673969"/>
            <a:ext cx="1826746" cy="182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39" name="Google Shape;5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79740" y="2082800"/>
            <a:ext cx="21235" cy="99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40" name="Google Shape;5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9607" y="2318593"/>
            <a:ext cx="1027058" cy="5266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41" name="Google Shape;54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6516" y="2266504"/>
            <a:ext cx="1593706" cy="630783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6"/>
          <p:cNvSpPr/>
          <p:nvPr/>
        </p:nvSpPr>
        <p:spPr>
          <a:xfrm>
            <a:off x="7720084" y="2275681"/>
            <a:ext cx="624520" cy="612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43" name="Google Shape;54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57941" y="2238524"/>
            <a:ext cx="948799" cy="686798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6"/>
          <p:cNvSpPr/>
          <p:nvPr/>
        </p:nvSpPr>
        <p:spPr>
          <a:xfrm>
            <a:off x="8684462" y="2302520"/>
            <a:ext cx="828690" cy="558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45" name="Google Shape;54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5407" y="2212578"/>
            <a:ext cx="1046789" cy="738641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16"/>
          <p:cNvSpPr/>
          <p:nvPr/>
        </p:nvSpPr>
        <p:spPr>
          <a:xfrm>
            <a:off x="9853008" y="2383780"/>
            <a:ext cx="1705420" cy="39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547" name="Google Shape;54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53008" y="2360166"/>
            <a:ext cx="1705436" cy="49159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6"/>
          <p:cNvSpPr/>
          <p:nvPr/>
        </p:nvSpPr>
        <p:spPr>
          <a:xfrm>
            <a:off x="0" y="13246100"/>
            <a:ext cx="24387048" cy="469900"/>
          </a:xfrm>
          <a:prstGeom prst="rect">
            <a:avLst/>
          </a:prstGeom>
          <a:solidFill>
            <a:srgbClr val="1931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6"/>
          <p:cNvSpPr/>
          <p:nvPr/>
        </p:nvSpPr>
        <p:spPr>
          <a:xfrm>
            <a:off x="1656148" y="7487268"/>
            <a:ext cx="89124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+34 623 04 90 22</a:t>
            </a:r>
            <a:endParaRPr b="0" i="0" sz="3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0" name="Google Shape;550;p16"/>
          <p:cNvSpPr/>
          <p:nvPr/>
        </p:nvSpPr>
        <p:spPr>
          <a:xfrm>
            <a:off x="5490294" y="7308144"/>
            <a:ext cx="8912400" cy="7201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sng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sponsorship@wgic26.org</a:t>
            </a:r>
            <a:endParaRPr b="0" i="0" sz="3200" u="none" cap="none" strike="noStrike">
              <a:solidFill>
                <a:srgbClr val="6DEF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551" name="Google Shape;55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57095" y="8899810"/>
            <a:ext cx="1587698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16"/>
          <p:cNvSpPr/>
          <p:nvPr/>
        </p:nvSpPr>
        <p:spPr>
          <a:xfrm>
            <a:off x="2083070" y="10737521"/>
            <a:ext cx="85863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6"/>
          <p:cNvSpPr/>
          <p:nvPr/>
        </p:nvSpPr>
        <p:spPr>
          <a:xfrm>
            <a:off x="1757100" y="9519400"/>
            <a:ext cx="9233400" cy="24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Congreso Mundial de Infraestructura Verde 2026 Barcelona/Lleida</a:t>
            </a:r>
            <a:endParaRPr b="1" i="0" sz="4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Helvetica Neue"/>
              <a:buNone/>
            </a:pPr>
            <a:r>
              <a:t/>
            </a:r>
            <a:endParaRPr b="1" i="0" sz="40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4" name="Google Shape;554;p16"/>
          <p:cNvSpPr/>
          <p:nvPr/>
        </p:nvSpPr>
        <p:spPr>
          <a:xfrm>
            <a:off x="1757100" y="11055175"/>
            <a:ext cx="4247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27-30 de octubre de 2026</a:t>
            </a:r>
            <a:endParaRPr b="0" i="0" sz="2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1757089" y="11705758"/>
            <a:ext cx="8912281" cy="41486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sng" cap="none" strike="noStrike">
                <a:solidFill>
                  <a:srgbClr val="6DEF70"/>
                </a:solidFill>
                <a:latin typeface="Helvetica Neue"/>
                <a:ea typeface="Helvetica Neue"/>
                <a:cs typeface="Helvetica Neue"/>
                <a:sym typeface="Helvetica Neue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wgic26.barcelona</a:t>
            </a:r>
            <a:endParaRPr b="0" i="0" sz="3200" u="sng" cap="none" strike="noStrike">
              <a:solidFill>
                <a:srgbClr val="6DEF7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Sustainable Real Estate in Barcelona | Harper Real Estate - Harper Real  Estate" id="556" name="Google Shape;556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877076" y="0"/>
            <a:ext cx="12540173" cy="13768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Marina deusedas</dc:creator>
</cp:coreProperties>
</file>