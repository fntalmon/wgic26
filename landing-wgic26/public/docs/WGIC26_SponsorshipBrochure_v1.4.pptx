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13716000" cx="24387175"/>
  <p:notesSz cx="7099300" cy="10234600"/>
  <p:embeddedFontLs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AdZoBsgWYmG6vLA2uDOsJC8jB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HelveticaNeue-bold.fntdata"/><Relationship Id="rId21" Type="http://schemas.openxmlformats.org/officeDocument/2006/relationships/font" Target="fonts/HelveticaNeue-regular.fntdata"/><Relationship Id="rId24" Type="http://schemas.openxmlformats.org/officeDocument/2006/relationships/font" Target="fonts/HelveticaNeue-boldItalic.fntdata"/><Relationship Id="rId23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010647" y="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n-US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80d0a15e1_0_0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e80d0a15e1_0_0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e80d0a15e1_0_0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80d0a15e1_0_101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e80d0a15e1_0_101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e80d0a15e1_0_101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80d0a15e1_0_170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e80d0a15e1_0_170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3e80d0a15e1_0_170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80d0a15e1_0_200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e80d0a15e1_0_200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g3e80d0a15e1_0_200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80d0a15e1_0_229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e80d0a15e1_0_229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g3e80d0a15e1_0_229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9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9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p19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6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16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16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Relationship Id="rId4" Type="http://schemas.openxmlformats.org/officeDocument/2006/relationships/image" Target="../media/image7.png"/><Relationship Id="rId11" Type="http://schemas.openxmlformats.org/officeDocument/2006/relationships/image" Target="../media/image8.png"/><Relationship Id="rId10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6.png"/><Relationship Id="rId12" Type="http://schemas.openxmlformats.org/officeDocument/2006/relationships/image" Target="../media/image9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6.png"/><Relationship Id="rId12" Type="http://schemas.openxmlformats.org/officeDocument/2006/relationships/image" Target="../media/image11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6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6.png"/><Relationship Id="rId12" Type="http://schemas.openxmlformats.org/officeDocument/2006/relationships/image" Target="../media/image12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7.png"/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2" Type="http://schemas.openxmlformats.org/officeDocument/2006/relationships/image" Target="../media/image10.jpg"/><Relationship Id="rId9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6.png"/><Relationship Id="rId12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6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6.png"/><Relationship Id="rId12" Type="http://schemas.openxmlformats.org/officeDocument/2006/relationships/image" Target="../media/image28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11" Type="http://schemas.openxmlformats.org/officeDocument/2006/relationships/image" Target="../media/image17.png"/><Relationship Id="rId10" Type="http://schemas.openxmlformats.org/officeDocument/2006/relationships/image" Target="../media/image19.png"/><Relationship Id="rId9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11" Type="http://schemas.openxmlformats.org/officeDocument/2006/relationships/image" Target="../media/image17.png"/><Relationship Id="rId10" Type="http://schemas.openxmlformats.org/officeDocument/2006/relationships/image" Target="../media/image19.png"/><Relationship Id="rId9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9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1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9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9.png"/><Relationship Id="rId13" Type="http://schemas.openxmlformats.org/officeDocument/2006/relationships/image" Target="../media/image30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9.png"/><Relationship Id="rId13" Type="http://schemas.openxmlformats.org/officeDocument/2006/relationships/image" Target="../media/image34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3" Type="http://schemas.openxmlformats.org/officeDocument/2006/relationships/image" Target="../media/image29.jpg"/><Relationship Id="rId12" Type="http://schemas.openxmlformats.org/officeDocument/2006/relationships/hyperlink" Target="https://www.wgic26.barcelona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7.png"/><Relationship Id="rId9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312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083060" y="4889500"/>
            <a:ext cx="9475384" cy="2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083060" y="4889500"/>
            <a:ext cx="9924174" cy="1655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Helvetica Neue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WGIC26 – </a:t>
            </a:r>
            <a:r>
              <a:rPr b="1" i="0" lang="en-US" sz="64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World Green Infrastructure Congress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083060" y="6959600"/>
            <a:ext cx="967861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 &amp; Lleida, Spain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083060" y="8967758"/>
            <a:ext cx="8819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Helvetica Neue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Shaping the Future of Green Infrastructure in Cities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083060" y="10807700"/>
            <a:ext cx="4661483" cy="8255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331336" y="10949504"/>
            <a:ext cx="5439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October 27-30, 2026</a:t>
            </a:r>
            <a:endParaRPr b="1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" name="Google Shape;2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094" y="1673969"/>
            <a:ext cx="1826759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" name="Google Shape;2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7" name="Google Shape;2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" name="Google Shape;2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528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7720097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0" name="Google Shape;30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7953" y="2238524"/>
            <a:ext cx="948790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8684475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2" name="Google Shape;3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5445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9853021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4" name="Google Shape;34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3021" y="2360166"/>
            <a:ext cx="1705424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" name="Google Shape;35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083060" y="6616700"/>
            <a:ext cx="8586273" cy="50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6578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2083048" y="7124700"/>
            <a:ext cx="103482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Cities Are Facing Unprecedented </a:t>
            </a: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Environmental Challenges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083049" y="9182100"/>
            <a:ext cx="97032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Cities around the world are facing major environmental pressures: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Climate change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Urban flooding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Heat islands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Biodiversity loss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59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0" name="Google Shape;5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" name="Google Shape;5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2" name="Google Shape;5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28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7720097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" name="Google Shape;54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53" y="2238524"/>
            <a:ext cx="948790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8684475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6" name="Google Shape;56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45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9853021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8" name="Google Shape;58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21" y="2360166"/>
            <a:ext cx="1705424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9" name="Google Shape;59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4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083060" y="4394200"/>
            <a:ext cx="85863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38989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2083060" y="4140200"/>
            <a:ext cx="83958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Rapidly Expanding </a:t>
            </a: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Green Infrastructure Market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083050" y="6350000"/>
            <a:ext cx="106566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facts: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European Green Deal mobilizes hundreds of billions of euros in climate investment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EU Biodiversity Strategy 2030 promotes nature-based solutions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Cities across Europe are investing heavily in urban resilience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083060" y="9969500"/>
            <a:ext cx="86880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investment areas: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sustainable urban drainage systems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green roofs and walls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urban biodiversity infrastructure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climate-adapted public spaces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4" name="Google Shape;7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5" name="Google Shape;7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7" name="Google Shape;7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9" name="Google Shape;7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1" name="Google Shape;81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3" name="Google Shape;83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4" name="Google Shape;84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1663"/>
            <a:ext cx="24387048" cy="1443691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083060" y="5588000"/>
            <a:ext cx="8586273" cy="60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3" name="Google Shape;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3929529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2083060" y="4191000"/>
            <a:ext cx="7125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Global Platform</a:t>
            </a: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Green Infrastructure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083060" y="7170747"/>
            <a:ext cx="86880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World Green Infrastructure Congress brings together: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leading researchers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city governments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engineering firms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environmental agencies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infrastructure companies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083060" y="10401300"/>
            <a:ext cx="8687886" cy="123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facts: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international participation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attendees from more than 30 countries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9" name="Google Shape;9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0" name="Google Shape;10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1" name="Google Shape;10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2" name="Google Shape;10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4" name="Google Shape;10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6" name="Google Shape;106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8" name="Google Shape;108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13243985" y="3929529"/>
            <a:ext cx="8586300" cy="6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43985" y="4120029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13243985" y="4437529"/>
            <a:ext cx="7125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Highly Specialized </a:t>
            </a: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International Audience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3243985" y="6723529"/>
            <a:ext cx="8688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Typical audience distribution: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45–55% academia and research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20–30% private sector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15–20% public sector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3243985" y="9758829"/>
            <a:ext cx="86880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sectors represented: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engineering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urban planning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landscape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 management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083060" y="7429500"/>
            <a:ext cx="85863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58674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2083060" y="6184900"/>
            <a:ext cx="7125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Attends</a:t>
            </a: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WGIC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083060" y="8775700"/>
            <a:ext cx="8688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Participants typically include: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city planners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environmental agencies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infrastructure engineers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architects and landscape architects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researchers and policy experts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urban technology providers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27" name="Google Shape;12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8" name="Google Shape;12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9" name="Google Shape;12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0" name="Google Shape;13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2" name="Google Shape;13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4" name="Google Shape;13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6" name="Google Shape;136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7" name="Google Shape;137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8" name="Google Shape;14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2" name="Google Shape;15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4" name="Google Shape;15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6" name="Google Shape;15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2083060" y="3695700"/>
            <a:ext cx="8586300" cy="7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8" name="Google Shape;15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83060" y="3657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2083060" y="3987800"/>
            <a:ext cx="7125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you cannot miss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 WGIC26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083060" y="5829300"/>
            <a:ext cx="868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Gaudi’s Year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 World Architecture Capital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083060" y="6896100"/>
            <a:ext cx="8687886" cy="31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Interactive Workshops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083060" y="7708900"/>
            <a:ext cx="9513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Global South: Designing the green infrastructures of the Global South through a genuine partnership based on mutual learning, co-creation of knowledge, and equitable benefit sharing.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083060" y="9737909"/>
            <a:ext cx="9513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Health and Well being: Connecting health and green infrastructure sectors. Designing to connect with nature (biophilia criteria) and avoiding the negative impact of the lack of nature.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083060" y="11264900"/>
            <a:ext cx="9513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  conflict and Disaster Recovery: How can green infrastructure contribute to social and environmental recovery after crisis situations due to conflicts or disasters.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ómo visitar La Pedrera (Casa Milà) en Barcelona: tipos de entrada,  precios, horarios, curiosidades y nuestra experiencia - RandomTrip" id="165" name="Google Shape;165;p6"/>
          <p:cNvPicPr preferRelativeResize="0"/>
          <p:nvPr/>
        </p:nvPicPr>
        <p:blipFill rotWithShape="1">
          <a:blip r:embed="rId12">
            <a:alphaModFix/>
          </a:blip>
          <a:srcRect b="0" l="24706" r="19839" t="0"/>
          <a:stretch/>
        </p:blipFill>
        <p:spPr>
          <a:xfrm>
            <a:off x="12981172" y="0"/>
            <a:ext cx="11403795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083060" y="4978400"/>
            <a:ext cx="8586273" cy="66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4" name="Google Shape;1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39497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2083047" y="4191000"/>
            <a:ext cx="90336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Barcelona: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Living Laboratory for Sustainable Cities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2083060" y="7065433"/>
            <a:ext cx="86880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 is recognized globally for leadership in: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urban planning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sustainable mobility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climate adaptation strategies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nature-based solutions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2083060" y="9994900"/>
            <a:ext cx="8687886" cy="16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initiatives include: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Superblocks (Superilles)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 Nature Plan 2030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Blue-green infrastructure initiatives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0" name="Google Shape;1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1" name="Google Shape;18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2" name="Google Shape;18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3" name="Google Shape;18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5" name="Google Shape;18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7" name="Google Shape;18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9" name="Google Shape;18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0" name="Google Shape;190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5101176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083060" y="5243525"/>
            <a:ext cx="85863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99" name="Google Shape;19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5205425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2083060" y="5522925"/>
            <a:ext cx="7125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Companies </a:t>
            </a: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Sponsor WGIC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083060" y="8418525"/>
            <a:ext cx="8687886" cy="20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Benefits: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Positioning as a leader in sustainable infrastructure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Access to international decision-makers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Opportunity to present technologies and projects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 development and partnerships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4" name="Google Shape;20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5" name="Google Shape;20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6" name="Google Shape;20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9" name="Google Shape;209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1" name="Google Shape;211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3" name="Google Shape;21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13147300" y="5219700"/>
            <a:ext cx="8586300" cy="48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5" name="Google Shape;2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47300" y="5181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13147300" y="5499100"/>
            <a:ext cx="7125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Opportunities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Interaction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3147300" y="8775700"/>
            <a:ext cx="8687886" cy="28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Sponsors gain visibility through: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plenary sessions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sponsored panels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exhibition booths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networking receptions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gala dinner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visits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3" name="Google Shape;2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2083060" y="5778500"/>
            <a:ext cx="85863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26" name="Google Shape;22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57404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/>
          <p:nvPr/>
        </p:nvSpPr>
        <p:spPr>
          <a:xfrm>
            <a:off x="2083060" y="6134100"/>
            <a:ext cx="8103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 Visibility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Sponsors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2083060" y="9182100"/>
            <a:ext cx="8687886" cy="24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stage branding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exhibition presence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branding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website promotion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digital marketing exposure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31" name="Google Shape;23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18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2" name="Google Shape;23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3" name="Google Shape;23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4" name="Google Shape;23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36" name="Google Shape;236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38" name="Google Shape;238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>
            <a:off x="9853008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40" name="Google Shape;240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08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nue images 1" id="241" name="Google Shape;241;p9"/>
          <p:cNvPicPr preferRelativeResize="0"/>
          <p:nvPr/>
        </p:nvPicPr>
        <p:blipFill rotWithShape="1">
          <a:blip r:embed="rId12">
            <a:alphaModFix/>
          </a:blip>
          <a:srcRect b="0" l="7871" r="5469" t="0"/>
          <a:stretch/>
        </p:blipFill>
        <p:spPr>
          <a:xfrm>
            <a:off x="12958503" y="0"/>
            <a:ext cx="1140095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7" name="Google Shape;247;g3e80d0a15e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6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e80d0a15e1_0_0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e80d0a15e1_0_0"/>
          <p:cNvSpPr/>
          <p:nvPr/>
        </p:nvSpPr>
        <p:spPr>
          <a:xfrm>
            <a:off x="2083073" y="3975100"/>
            <a:ext cx="85863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0" name="Google Shape;250;g3e80d0a15e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39370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e80d0a15e1_0_0"/>
          <p:cNvSpPr/>
          <p:nvPr/>
        </p:nvSpPr>
        <p:spPr>
          <a:xfrm>
            <a:off x="2083073" y="4330700"/>
            <a:ext cx="7125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Sponsorship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Packages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80d0a15e1_0_0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e80d0a15e1_0_0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4" name="Google Shape;254;g3e80d0a15e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06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5" name="Google Shape;255;g3e80d0a15e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6" name="Google Shape;256;g3e80d0a15e1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7" name="Google Shape;257;g3e80d0a15e1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e80d0a15e1_0_0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9" name="Google Shape;259;g3e80d0a15e1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e80d0a15e1_0_0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61" name="Google Shape;261;g3e80d0a15e1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e80d0a15e1_0_0"/>
          <p:cNvSpPr/>
          <p:nvPr/>
        </p:nvSpPr>
        <p:spPr>
          <a:xfrm>
            <a:off x="9853094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63" name="Google Shape;263;g3e80d0a15e1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94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e80d0a15e1_0_0"/>
          <p:cNvSpPr/>
          <p:nvPr/>
        </p:nvSpPr>
        <p:spPr>
          <a:xfrm>
            <a:off x="2083073" y="5689600"/>
            <a:ext cx="40011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e80d0a15e1_0_0"/>
          <p:cNvSpPr/>
          <p:nvPr/>
        </p:nvSpPr>
        <p:spPr>
          <a:xfrm>
            <a:off x="2337106" y="5943925"/>
            <a:ext cx="1456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CATEGORY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80d0a15e1_0_0"/>
          <p:cNvSpPr/>
          <p:nvPr/>
        </p:nvSpPr>
        <p:spPr>
          <a:xfrm>
            <a:off x="6134905" y="5689600"/>
            <a:ext cx="40137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e80d0a15e1_0_0"/>
          <p:cNvSpPr/>
          <p:nvPr/>
        </p:nvSpPr>
        <p:spPr>
          <a:xfrm>
            <a:off x="6388938" y="5956625"/>
            <a:ext cx="2421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DIAMOND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(EXCLUSIVE)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80d0a15e1_0_0"/>
          <p:cNvSpPr/>
          <p:nvPr/>
        </p:nvSpPr>
        <p:spPr>
          <a:xfrm>
            <a:off x="10199438" y="5689600"/>
            <a:ext cx="39882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e80d0a15e1_0_0"/>
          <p:cNvSpPr/>
          <p:nvPr/>
        </p:nvSpPr>
        <p:spPr>
          <a:xfrm>
            <a:off x="10453471" y="5943925"/>
            <a:ext cx="1316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EMERALD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e80d0a15e1_0_0"/>
          <p:cNvSpPr/>
          <p:nvPr/>
        </p:nvSpPr>
        <p:spPr>
          <a:xfrm>
            <a:off x="14238568" y="5689600"/>
            <a:ext cx="40137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e80d0a15e1_0_0"/>
          <p:cNvSpPr/>
          <p:nvPr/>
        </p:nvSpPr>
        <p:spPr>
          <a:xfrm>
            <a:off x="14492600" y="5943925"/>
            <a:ext cx="1367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PLATINUM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e80d0a15e1_0_0"/>
          <p:cNvSpPr/>
          <p:nvPr/>
        </p:nvSpPr>
        <p:spPr>
          <a:xfrm>
            <a:off x="18303101" y="5689600"/>
            <a:ext cx="40011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e80d0a15e1_0_0"/>
          <p:cNvSpPr/>
          <p:nvPr/>
        </p:nvSpPr>
        <p:spPr>
          <a:xfrm>
            <a:off x="18557133" y="5943925"/>
            <a:ext cx="808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GOLD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e80d0a15e1_0_0"/>
          <p:cNvSpPr/>
          <p:nvPr/>
        </p:nvSpPr>
        <p:spPr>
          <a:xfrm>
            <a:off x="2083073" y="64643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80d0a15e1_0_0"/>
          <p:cNvSpPr/>
          <p:nvPr/>
        </p:nvSpPr>
        <p:spPr>
          <a:xfrm>
            <a:off x="2337106" y="6699575"/>
            <a:ext cx="1342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e80d0a15e1_0_0"/>
          <p:cNvSpPr/>
          <p:nvPr/>
        </p:nvSpPr>
        <p:spPr>
          <a:xfrm>
            <a:off x="2083073" y="72009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e80d0a15e1_0_0"/>
          <p:cNvSpPr/>
          <p:nvPr/>
        </p:nvSpPr>
        <p:spPr>
          <a:xfrm>
            <a:off x="2337106" y="7448875"/>
            <a:ext cx="2040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Congress passes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e80d0a15e1_0_0"/>
          <p:cNvSpPr/>
          <p:nvPr/>
        </p:nvSpPr>
        <p:spPr>
          <a:xfrm>
            <a:off x="2083073" y="79629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e80d0a15e1_0_0"/>
          <p:cNvSpPr/>
          <p:nvPr/>
        </p:nvSpPr>
        <p:spPr>
          <a:xfrm>
            <a:off x="2337106" y="8198175"/>
            <a:ext cx="2193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Gala dinner tickets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80d0a15e1_0_0"/>
          <p:cNvSpPr/>
          <p:nvPr/>
        </p:nvSpPr>
        <p:spPr>
          <a:xfrm>
            <a:off x="2083073" y="86995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e80d0a15e1_0_0"/>
          <p:cNvSpPr/>
          <p:nvPr/>
        </p:nvSpPr>
        <p:spPr>
          <a:xfrm>
            <a:off x="2337099" y="8934775"/>
            <a:ext cx="3109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Speaking opportunity (*)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80d0a15e1_0_0"/>
          <p:cNvSpPr/>
          <p:nvPr/>
        </p:nvSpPr>
        <p:spPr>
          <a:xfrm>
            <a:off x="2083073" y="94361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e80d0a15e1_0_0"/>
          <p:cNvSpPr/>
          <p:nvPr/>
        </p:nvSpPr>
        <p:spPr>
          <a:xfrm>
            <a:off x="2337106" y="9684075"/>
            <a:ext cx="1672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Naming rights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e80d0a15e1_0_0"/>
          <p:cNvSpPr/>
          <p:nvPr/>
        </p:nvSpPr>
        <p:spPr>
          <a:xfrm>
            <a:off x="2083073" y="101981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e80d0a15e1_0_0"/>
          <p:cNvSpPr/>
          <p:nvPr/>
        </p:nvSpPr>
        <p:spPr>
          <a:xfrm>
            <a:off x="2337106" y="10433375"/>
            <a:ext cx="2028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 placement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80d0a15e1_0_0"/>
          <p:cNvSpPr/>
          <p:nvPr/>
        </p:nvSpPr>
        <p:spPr>
          <a:xfrm>
            <a:off x="2083073" y="10934700"/>
            <a:ext cx="40011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e80d0a15e1_0_0"/>
          <p:cNvSpPr/>
          <p:nvPr/>
        </p:nvSpPr>
        <p:spPr>
          <a:xfrm>
            <a:off x="2337106" y="11176325"/>
            <a:ext cx="1773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Included stand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e80d0a15e1_0_0"/>
          <p:cNvSpPr/>
          <p:nvPr/>
        </p:nvSpPr>
        <p:spPr>
          <a:xfrm>
            <a:off x="6134905" y="64643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e80d0a15e1_0_0"/>
          <p:cNvSpPr/>
          <p:nvPr/>
        </p:nvSpPr>
        <p:spPr>
          <a:xfrm>
            <a:off x="6388938" y="6699575"/>
            <a:ext cx="973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€30.000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e80d0a15e1_0_0"/>
          <p:cNvSpPr/>
          <p:nvPr/>
        </p:nvSpPr>
        <p:spPr>
          <a:xfrm>
            <a:off x="6134905" y="72009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e80d0a15e1_0_0"/>
          <p:cNvSpPr/>
          <p:nvPr/>
        </p:nvSpPr>
        <p:spPr>
          <a:xfrm>
            <a:off x="6388938" y="7448875"/>
            <a:ext cx="1710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 Full Passes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e80d0a15e1_0_0"/>
          <p:cNvSpPr/>
          <p:nvPr/>
        </p:nvSpPr>
        <p:spPr>
          <a:xfrm>
            <a:off x="6134905" y="79629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e80d0a15e1_0_0"/>
          <p:cNvSpPr/>
          <p:nvPr/>
        </p:nvSpPr>
        <p:spPr>
          <a:xfrm>
            <a:off x="6388938" y="8198175"/>
            <a:ext cx="1240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Tickets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80d0a15e1_0_0"/>
          <p:cNvSpPr/>
          <p:nvPr/>
        </p:nvSpPr>
        <p:spPr>
          <a:xfrm>
            <a:off x="6134905" y="86995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e80d0a15e1_0_0"/>
          <p:cNvSpPr/>
          <p:nvPr/>
        </p:nvSpPr>
        <p:spPr>
          <a:xfrm>
            <a:off x="6388938" y="8934775"/>
            <a:ext cx="1024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TBC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e80d0a15e1_0_0"/>
          <p:cNvSpPr/>
          <p:nvPr/>
        </p:nvSpPr>
        <p:spPr>
          <a:xfrm>
            <a:off x="6134905" y="94361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e80d0a15e1_0_0"/>
          <p:cNvSpPr/>
          <p:nvPr/>
        </p:nvSpPr>
        <p:spPr>
          <a:xfrm>
            <a:off x="6388938" y="9684075"/>
            <a:ext cx="1951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Auditorium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e80d0a15e1_0_0"/>
          <p:cNvSpPr/>
          <p:nvPr/>
        </p:nvSpPr>
        <p:spPr>
          <a:xfrm>
            <a:off x="6134905" y="101981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e80d0a15e1_0_0"/>
          <p:cNvSpPr/>
          <p:nvPr/>
        </p:nvSpPr>
        <p:spPr>
          <a:xfrm>
            <a:off x="6388938" y="10433375"/>
            <a:ext cx="2142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Maximum (Global)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e80d0a15e1_0_0"/>
          <p:cNvSpPr/>
          <p:nvPr/>
        </p:nvSpPr>
        <p:spPr>
          <a:xfrm>
            <a:off x="6134905" y="10934700"/>
            <a:ext cx="40137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e80d0a15e1_0_0"/>
          <p:cNvSpPr/>
          <p:nvPr/>
        </p:nvSpPr>
        <p:spPr>
          <a:xfrm>
            <a:off x="6388938" y="11176325"/>
            <a:ext cx="2586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Premium (Large 4*4m)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e80d0a15e1_0_0"/>
          <p:cNvSpPr/>
          <p:nvPr/>
        </p:nvSpPr>
        <p:spPr>
          <a:xfrm>
            <a:off x="10199438" y="64643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e80d0a15e1_0_0"/>
          <p:cNvSpPr/>
          <p:nvPr/>
        </p:nvSpPr>
        <p:spPr>
          <a:xfrm>
            <a:off x="10453471" y="6699575"/>
            <a:ext cx="973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€15.000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e80d0a15e1_0_0"/>
          <p:cNvSpPr/>
          <p:nvPr/>
        </p:nvSpPr>
        <p:spPr>
          <a:xfrm>
            <a:off x="10199438" y="7200900"/>
            <a:ext cx="39882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e80d0a15e1_0_0"/>
          <p:cNvSpPr/>
          <p:nvPr/>
        </p:nvSpPr>
        <p:spPr>
          <a:xfrm>
            <a:off x="10453471" y="7448875"/>
            <a:ext cx="1710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Full Passes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e80d0a15e1_0_0"/>
          <p:cNvSpPr/>
          <p:nvPr/>
        </p:nvSpPr>
        <p:spPr>
          <a:xfrm>
            <a:off x="10199438" y="79629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e80d0a15e1_0_0"/>
          <p:cNvSpPr/>
          <p:nvPr/>
        </p:nvSpPr>
        <p:spPr>
          <a:xfrm>
            <a:off x="10453471" y="8198175"/>
            <a:ext cx="1113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Tickets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e80d0a15e1_0_0"/>
          <p:cNvSpPr/>
          <p:nvPr/>
        </p:nvSpPr>
        <p:spPr>
          <a:xfrm>
            <a:off x="10199438" y="86995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e80d0a15e1_0_0"/>
          <p:cNvSpPr/>
          <p:nvPr/>
        </p:nvSpPr>
        <p:spPr>
          <a:xfrm>
            <a:off x="10453471" y="8934775"/>
            <a:ext cx="2396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TBC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e80d0a15e1_0_0"/>
          <p:cNvSpPr/>
          <p:nvPr/>
        </p:nvSpPr>
        <p:spPr>
          <a:xfrm>
            <a:off x="10199438" y="9436100"/>
            <a:ext cx="39882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e80d0a15e1_0_0"/>
          <p:cNvSpPr/>
          <p:nvPr/>
        </p:nvSpPr>
        <p:spPr>
          <a:xfrm>
            <a:off x="10453471" y="9684075"/>
            <a:ext cx="1735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Parallel  Room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e80d0a15e1_0_0"/>
          <p:cNvSpPr/>
          <p:nvPr/>
        </p:nvSpPr>
        <p:spPr>
          <a:xfrm>
            <a:off x="10199438" y="101981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e80d0a15e1_0_0"/>
          <p:cNvSpPr/>
          <p:nvPr/>
        </p:nvSpPr>
        <p:spPr>
          <a:xfrm>
            <a:off x="10453471" y="10433375"/>
            <a:ext cx="1596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Visibility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e80d0a15e1_0_0"/>
          <p:cNvSpPr/>
          <p:nvPr/>
        </p:nvSpPr>
        <p:spPr>
          <a:xfrm>
            <a:off x="10199438" y="10934700"/>
            <a:ext cx="39882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e80d0a15e1_0_0"/>
          <p:cNvSpPr/>
          <p:nvPr/>
        </p:nvSpPr>
        <p:spPr>
          <a:xfrm>
            <a:off x="10453471" y="11176325"/>
            <a:ext cx="1837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Mid-size (3*3m)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e80d0a15e1_0_0"/>
          <p:cNvSpPr/>
          <p:nvPr/>
        </p:nvSpPr>
        <p:spPr>
          <a:xfrm>
            <a:off x="14238568" y="64643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e80d0a15e1_0_0"/>
          <p:cNvSpPr/>
          <p:nvPr/>
        </p:nvSpPr>
        <p:spPr>
          <a:xfrm>
            <a:off x="14492600" y="6699575"/>
            <a:ext cx="973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€10.000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e80d0a15e1_0_0"/>
          <p:cNvSpPr/>
          <p:nvPr/>
        </p:nvSpPr>
        <p:spPr>
          <a:xfrm>
            <a:off x="14238568" y="72009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e80d0a15e1_0_0"/>
          <p:cNvSpPr/>
          <p:nvPr/>
        </p:nvSpPr>
        <p:spPr>
          <a:xfrm>
            <a:off x="14492600" y="7448875"/>
            <a:ext cx="1583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Full Passes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e80d0a15e1_0_0"/>
          <p:cNvSpPr/>
          <p:nvPr/>
        </p:nvSpPr>
        <p:spPr>
          <a:xfrm>
            <a:off x="14238568" y="79629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e80d0a15e1_0_0"/>
          <p:cNvSpPr/>
          <p:nvPr/>
        </p:nvSpPr>
        <p:spPr>
          <a:xfrm>
            <a:off x="14492600" y="8198175"/>
            <a:ext cx="1113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Tickets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e80d0a15e1_0_0"/>
          <p:cNvSpPr/>
          <p:nvPr/>
        </p:nvSpPr>
        <p:spPr>
          <a:xfrm>
            <a:off x="14238568" y="86995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e80d0a15e1_0_0"/>
          <p:cNvSpPr/>
          <p:nvPr/>
        </p:nvSpPr>
        <p:spPr>
          <a:xfrm>
            <a:off x="14492600" y="8934775"/>
            <a:ext cx="1939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TBC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e80d0a15e1_0_0"/>
          <p:cNvSpPr/>
          <p:nvPr/>
        </p:nvSpPr>
        <p:spPr>
          <a:xfrm>
            <a:off x="14238568" y="94361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e80d0a15e1_0_0"/>
          <p:cNvSpPr/>
          <p:nvPr/>
        </p:nvSpPr>
        <p:spPr>
          <a:xfrm>
            <a:off x="14492600" y="9684075"/>
            <a:ext cx="376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e80d0a15e1_0_0"/>
          <p:cNvSpPr/>
          <p:nvPr/>
        </p:nvSpPr>
        <p:spPr>
          <a:xfrm>
            <a:off x="14238568" y="101981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e80d0a15e1_0_0"/>
          <p:cNvSpPr/>
          <p:nvPr/>
        </p:nvSpPr>
        <p:spPr>
          <a:xfrm>
            <a:off x="14492600" y="10433375"/>
            <a:ext cx="1126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Standard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e80d0a15e1_0_0"/>
          <p:cNvSpPr/>
          <p:nvPr/>
        </p:nvSpPr>
        <p:spPr>
          <a:xfrm>
            <a:off x="14238568" y="10934700"/>
            <a:ext cx="40137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e80d0a15e1_0_0"/>
          <p:cNvSpPr/>
          <p:nvPr/>
        </p:nvSpPr>
        <p:spPr>
          <a:xfrm>
            <a:off x="14492600" y="11176325"/>
            <a:ext cx="2421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Compact (pod 2*2m)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e80d0a15e1_0_0"/>
          <p:cNvSpPr/>
          <p:nvPr/>
        </p:nvSpPr>
        <p:spPr>
          <a:xfrm>
            <a:off x="18303101" y="64643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e80d0a15e1_0_0"/>
          <p:cNvSpPr/>
          <p:nvPr/>
        </p:nvSpPr>
        <p:spPr>
          <a:xfrm>
            <a:off x="18557133" y="6699575"/>
            <a:ext cx="846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€6.000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e80d0a15e1_0_0"/>
          <p:cNvSpPr/>
          <p:nvPr/>
        </p:nvSpPr>
        <p:spPr>
          <a:xfrm>
            <a:off x="18303101" y="72009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e80d0a15e1_0_0"/>
          <p:cNvSpPr/>
          <p:nvPr/>
        </p:nvSpPr>
        <p:spPr>
          <a:xfrm>
            <a:off x="18557133" y="7448875"/>
            <a:ext cx="1583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Full Passes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e80d0a15e1_0_0"/>
          <p:cNvSpPr/>
          <p:nvPr/>
        </p:nvSpPr>
        <p:spPr>
          <a:xfrm>
            <a:off x="18303101" y="79629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e80d0a15e1_0_0"/>
          <p:cNvSpPr/>
          <p:nvPr/>
        </p:nvSpPr>
        <p:spPr>
          <a:xfrm>
            <a:off x="18557133" y="8198175"/>
            <a:ext cx="986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Ticket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e80d0a15e1_0_0"/>
          <p:cNvSpPr/>
          <p:nvPr/>
        </p:nvSpPr>
        <p:spPr>
          <a:xfrm>
            <a:off x="18303101" y="86995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e80d0a15e1_0_0"/>
          <p:cNvSpPr/>
          <p:nvPr/>
        </p:nvSpPr>
        <p:spPr>
          <a:xfrm>
            <a:off x="18557133" y="8934775"/>
            <a:ext cx="1761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TBC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e80d0a15e1_0_0"/>
          <p:cNvSpPr/>
          <p:nvPr/>
        </p:nvSpPr>
        <p:spPr>
          <a:xfrm>
            <a:off x="18303101" y="94361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e80d0a15e1_0_0"/>
          <p:cNvSpPr/>
          <p:nvPr/>
        </p:nvSpPr>
        <p:spPr>
          <a:xfrm>
            <a:off x="18557133" y="9684075"/>
            <a:ext cx="376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e80d0a15e1_0_0"/>
          <p:cNvSpPr/>
          <p:nvPr/>
        </p:nvSpPr>
        <p:spPr>
          <a:xfrm>
            <a:off x="18303101" y="101981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e80d0a15e1_0_0"/>
          <p:cNvSpPr/>
          <p:nvPr/>
        </p:nvSpPr>
        <p:spPr>
          <a:xfrm>
            <a:off x="18557133" y="10433375"/>
            <a:ext cx="1380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Digital Only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e80d0a15e1_0_0"/>
          <p:cNvSpPr/>
          <p:nvPr/>
        </p:nvSpPr>
        <p:spPr>
          <a:xfrm>
            <a:off x="18303101" y="10934700"/>
            <a:ext cx="40011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e80d0a15e1_0_0"/>
          <p:cNvSpPr/>
          <p:nvPr/>
        </p:nvSpPr>
        <p:spPr>
          <a:xfrm>
            <a:off x="18557133" y="11176325"/>
            <a:ext cx="376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e80d0a15e1_0_0"/>
          <p:cNvSpPr/>
          <p:nvPr/>
        </p:nvSpPr>
        <p:spPr>
          <a:xfrm>
            <a:off x="2082998" y="12211225"/>
            <a:ext cx="20221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(*) Speaking opportunities are subject to availability and the Organizer's final confirmation</a:t>
            </a:r>
            <a:endParaRPr b="0" i="0" sz="2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50" name="Google Shape;350;g3e80d0a15e1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6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e80d0a15e1_0_101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e80d0a15e1_0_101"/>
          <p:cNvSpPr/>
          <p:nvPr/>
        </p:nvSpPr>
        <p:spPr>
          <a:xfrm>
            <a:off x="2083073" y="3975100"/>
            <a:ext cx="85863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53" name="Google Shape;353;g3e80d0a15e1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39370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e80d0a15e1_0_101"/>
          <p:cNvSpPr/>
          <p:nvPr/>
        </p:nvSpPr>
        <p:spPr>
          <a:xfrm>
            <a:off x="2083073" y="4330700"/>
            <a:ext cx="7125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Sponsorship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Add-ons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e80d0a15e1_0_101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e80d0a15e1_0_101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57" name="Google Shape;357;g3e80d0a15e1_0_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06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8" name="Google Shape;358;g3e80d0a15e1_0_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9" name="Google Shape;359;g3e80d0a15e1_0_1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0" name="Google Shape;360;g3e80d0a15e1_0_1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e80d0a15e1_0_101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2" name="Google Shape;362;g3e80d0a15e1_0_10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e80d0a15e1_0_101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4" name="Google Shape;364;g3e80d0a15e1_0_10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e80d0a15e1_0_101"/>
          <p:cNvSpPr/>
          <p:nvPr/>
        </p:nvSpPr>
        <p:spPr>
          <a:xfrm>
            <a:off x="9853094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6" name="Google Shape;366;g3e80d0a15e1_0_10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94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e80d0a15e1_0_101"/>
          <p:cNvSpPr/>
          <p:nvPr/>
        </p:nvSpPr>
        <p:spPr>
          <a:xfrm>
            <a:off x="2083073" y="5689600"/>
            <a:ext cx="67065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e80d0a15e1_0_101"/>
          <p:cNvSpPr/>
          <p:nvPr/>
        </p:nvSpPr>
        <p:spPr>
          <a:xfrm>
            <a:off x="2337106" y="5943925"/>
            <a:ext cx="707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e80d0a15e1_0_101"/>
          <p:cNvSpPr/>
          <p:nvPr/>
        </p:nvSpPr>
        <p:spPr>
          <a:xfrm>
            <a:off x="8840359" y="5689600"/>
            <a:ext cx="67191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e80d0a15e1_0_101"/>
          <p:cNvSpPr/>
          <p:nvPr/>
        </p:nvSpPr>
        <p:spPr>
          <a:xfrm>
            <a:off x="9094393" y="5943925"/>
            <a:ext cx="846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e80d0a15e1_0_101"/>
          <p:cNvSpPr/>
          <p:nvPr/>
        </p:nvSpPr>
        <p:spPr>
          <a:xfrm>
            <a:off x="15610347" y="5689600"/>
            <a:ext cx="66936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e80d0a15e1_0_101"/>
          <p:cNvSpPr/>
          <p:nvPr/>
        </p:nvSpPr>
        <p:spPr>
          <a:xfrm>
            <a:off x="15864381" y="5943925"/>
            <a:ext cx="1723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AVAILABILITY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e80d0a15e1_0_101"/>
          <p:cNvSpPr/>
          <p:nvPr/>
        </p:nvSpPr>
        <p:spPr>
          <a:xfrm>
            <a:off x="2083073" y="64643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e80d0a15e1_0_101"/>
          <p:cNvSpPr/>
          <p:nvPr/>
        </p:nvSpPr>
        <p:spPr>
          <a:xfrm>
            <a:off x="2337106" y="6699575"/>
            <a:ext cx="3145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Gala Dinner Naming Rights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e80d0a15e1_0_101"/>
          <p:cNvSpPr/>
          <p:nvPr/>
        </p:nvSpPr>
        <p:spPr>
          <a:xfrm>
            <a:off x="2083073" y="7200900"/>
            <a:ext cx="67065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e80d0a15e1_0_101"/>
          <p:cNvSpPr/>
          <p:nvPr/>
        </p:nvSpPr>
        <p:spPr>
          <a:xfrm>
            <a:off x="2337106" y="7448875"/>
            <a:ext cx="2548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Official Congress App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80d0a15e1_0_101"/>
          <p:cNvSpPr/>
          <p:nvPr/>
        </p:nvSpPr>
        <p:spPr>
          <a:xfrm>
            <a:off x="2083073" y="79629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e80d0a15e1_0_101"/>
          <p:cNvSpPr/>
          <p:nvPr/>
        </p:nvSpPr>
        <p:spPr>
          <a:xfrm>
            <a:off x="2337106" y="8198175"/>
            <a:ext cx="2294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Lanyards &amp; Badges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e80d0a15e1_0_101"/>
          <p:cNvSpPr/>
          <p:nvPr/>
        </p:nvSpPr>
        <p:spPr>
          <a:xfrm>
            <a:off x="2083073" y="86995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e80d0a15e1_0_101"/>
          <p:cNvSpPr/>
          <p:nvPr/>
        </p:nvSpPr>
        <p:spPr>
          <a:xfrm>
            <a:off x="2337106" y="8934775"/>
            <a:ext cx="3628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Coffee Break Sponsor (per day)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e80d0a15e1_0_101"/>
          <p:cNvSpPr/>
          <p:nvPr/>
        </p:nvSpPr>
        <p:spPr>
          <a:xfrm>
            <a:off x="2083073" y="9436100"/>
            <a:ext cx="67065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e80d0a15e1_0_101"/>
          <p:cNvSpPr/>
          <p:nvPr/>
        </p:nvSpPr>
        <p:spPr>
          <a:xfrm>
            <a:off x="2337106" y="9684075"/>
            <a:ext cx="3590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Tours (BCN or Lleida)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e80d0a15e1_0_101"/>
          <p:cNvSpPr/>
          <p:nvPr/>
        </p:nvSpPr>
        <p:spPr>
          <a:xfrm>
            <a:off x="2083073" y="101981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e80d0a15e1_0_101"/>
          <p:cNvSpPr/>
          <p:nvPr/>
        </p:nvSpPr>
        <p:spPr>
          <a:xfrm>
            <a:off x="2337106" y="10433375"/>
            <a:ext cx="3285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Full-page Ad in Proceedings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e80d0a15e1_0_101"/>
          <p:cNvSpPr/>
          <p:nvPr/>
        </p:nvSpPr>
        <p:spPr>
          <a:xfrm>
            <a:off x="2083073" y="10934700"/>
            <a:ext cx="67065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e80d0a15e1_0_101"/>
          <p:cNvSpPr/>
          <p:nvPr/>
        </p:nvSpPr>
        <p:spPr>
          <a:xfrm>
            <a:off x="2337106" y="11176325"/>
            <a:ext cx="2993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Produced Video Interview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e80d0a15e1_0_101"/>
          <p:cNvSpPr/>
          <p:nvPr/>
        </p:nvSpPr>
        <p:spPr>
          <a:xfrm>
            <a:off x="8840359" y="64643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e80d0a15e1_0_101"/>
          <p:cNvSpPr/>
          <p:nvPr/>
        </p:nvSpPr>
        <p:spPr>
          <a:xfrm>
            <a:off x="9094393" y="6699575"/>
            <a:ext cx="973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€20.000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e80d0a15e1_0_101"/>
          <p:cNvSpPr/>
          <p:nvPr/>
        </p:nvSpPr>
        <p:spPr>
          <a:xfrm>
            <a:off x="8840359" y="7200900"/>
            <a:ext cx="6719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e80d0a15e1_0_101"/>
          <p:cNvSpPr/>
          <p:nvPr/>
        </p:nvSpPr>
        <p:spPr>
          <a:xfrm>
            <a:off x="9094393" y="7448875"/>
            <a:ext cx="973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€10.000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e80d0a15e1_0_101"/>
          <p:cNvSpPr/>
          <p:nvPr/>
        </p:nvSpPr>
        <p:spPr>
          <a:xfrm>
            <a:off x="8840359" y="79629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e80d0a15e1_0_101"/>
          <p:cNvSpPr/>
          <p:nvPr/>
        </p:nvSpPr>
        <p:spPr>
          <a:xfrm>
            <a:off x="9094393" y="8198175"/>
            <a:ext cx="846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€8.000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e80d0a15e1_0_101"/>
          <p:cNvSpPr/>
          <p:nvPr/>
        </p:nvSpPr>
        <p:spPr>
          <a:xfrm>
            <a:off x="8840359" y="86995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e80d0a15e1_0_101"/>
          <p:cNvSpPr/>
          <p:nvPr/>
        </p:nvSpPr>
        <p:spPr>
          <a:xfrm>
            <a:off x="9094393" y="8934775"/>
            <a:ext cx="846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€5.000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e80d0a15e1_0_101"/>
          <p:cNvSpPr/>
          <p:nvPr/>
        </p:nvSpPr>
        <p:spPr>
          <a:xfrm>
            <a:off x="8840359" y="9436100"/>
            <a:ext cx="6719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e80d0a15e1_0_101"/>
          <p:cNvSpPr/>
          <p:nvPr/>
        </p:nvSpPr>
        <p:spPr>
          <a:xfrm>
            <a:off x="9094393" y="9684075"/>
            <a:ext cx="846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€6.000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e80d0a15e1_0_101"/>
          <p:cNvSpPr/>
          <p:nvPr/>
        </p:nvSpPr>
        <p:spPr>
          <a:xfrm>
            <a:off x="8840359" y="101981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e80d0a15e1_0_101"/>
          <p:cNvSpPr/>
          <p:nvPr/>
        </p:nvSpPr>
        <p:spPr>
          <a:xfrm>
            <a:off x="9094393" y="10433375"/>
            <a:ext cx="846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€2.000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e80d0a15e1_0_101"/>
          <p:cNvSpPr/>
          <p:nvPr/>
        </p:nvSpPr>
        <p:spPr>
          <a:xfrm>
            <a:off x="8840359" y="10934700"/>
            <a:ext cx="67191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e80d0a15e1_0_101"/>
          <p:cNvSpPr/>
          <p:nvPr/>
        </p:nvSpPr>
        <p:spPr>
          <a:xfrm>
            <a:off x="9094393" y="11176325"/>
            <a:ext cx="846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€2.500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e80d0a15e1_0_101"/>
          <p:cNvSpPr/>
          <p:nvPr/>
        </p:nvSpPr>
        <p:spPr>
          <a:xfrm>
            <a:off x="15610347" y="64643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e80d0a15e1_0_101"/>
          <p:cNvSpPr/>
          <p:nvPr/>
        </p:nvSpPr>
        <p:spPr>
          <a:xfrm>
            <a:off x="15864381" y="66995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(Exclusive)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e80d0a15e1_0_101"/>
          <p:cNvSpPr/>
          <p:nvPr/>
        </p:nvSpPr>
        <p:spPr>
          <a:xfrm>
            <a:off x="15610347" y="7200900"/>
            <a:ext cx="66936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e80d0a15e1_0_101"/>
          <p:cNvSpPr/>
          <p:nvPr/>
        </p:nvSpPr>
        <p:spPr>
          <a:xfrm>
            <a:off x="15864381" y="74488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(Exclusive)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80d0a15e1_0_101"/>
          <p:cNvSpPr/>
          <p:nvPr/>
        </p:nvSpPr>
        <p:spPr>
          <a:xfrm>
            <a:off x="15610347" y="79629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e80d0a15e1_0_101"/>
          <p:cNvSpPr/>
          <p:nvPr/>
        </p:nvSpPr>
        <p:spPr>
          <a:xfrm>
            <a:off x="15864381" y="81981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(Exclusive)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e80d0a15e1_0_101"/>
          <p:cNvSpPr/>
          <p:nvPr/>
        </p:nvSpPr>
        <p:spPr>
          <a:xfrm>
            <a:off x="15610347" y="86995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e80d0a15e1_0_101"/>
          <p:cNvSpPr/>
          <p:nvPr/>
        </p:nvSpPr>
        <p:spPr>
          <a:xfrm>
            <a:off x="15864381" y="8934775"/>
            <a:ext cx="1291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available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80d0a15e1_0_101"/>
          <p:cNvSpPr/>
          <p:nvPr/>
        </p:nvSpPr>
        <p:spPr>
          <a:xfrm>
            <a:off x="15610347" y="9436100"/>
            <a:ext cx="66936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e80d0a15e1_0_101"/>
          <p:cNvSpPr/>
          <p:nvPr/>
        </p:nvSpPr>
        <p:spPr>
          <a:xfrm>
            <a:off x="15864381" y="9684075"/>
            <a:ext cx="1291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available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e80d0a15e1_0_101"/>
          <p:cNvSpPr/>
          <p:nvPr/>
        </p:nvSpPr>
        <p:spPr>
          <a:xfrm>
            <a:off x="15610347" y="101981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e80d0a15e1_0_101"/>
          <p:cNvSpPr/>
          <p:nvPr/>
        </p:nvSpPr>
        <p:spPr>
          <a:xfrm>
            <a:off x="15864381" y="10433375"/>
            <a:ext cx="1164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Unlimited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80d0a15e1_0_101"/>
          <p:cNvSpPr/>
          <p:nvPr/>
        </p:nvSpPr>
        <p:spPr>
          <a:xfrm>
            <a:off x="15610347" y="10934700"/>
            <a:ext cx="66936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e80d0a15e1_0_101"/>
          <p:cNvSpPr/>
          <p:nvPr/>
        </p:nvSpPr>
        <p:spPr>
          <a:xfrm>
            <a:off x="15864381" y="11176325"/>
            <a:ext cx="973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slots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20" name="Google Shape;420;g3e80d0a15e1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4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e80d0a15e1_0_170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e80d0a15e1_0_170"/>
          <p:cNvSpPr/>
          <p:nvPr/>
        </p:nvSpPr>
        <p:spPr>
          <a:xfrm>
            <a:off x="2083073" y="3924300"/>
            <a:ext cx="8586300" cy="81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23" name="Google Shape;423;g3e80d0a15e1_0_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38862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e80d0a15e1_0_170"/>
          <p:cNvSpPr/>
          <p:nvPr/>
        </p:nvSpPr>
        <p:spPr>
          <a:xfrm>
            <a:off x="2083062" y="4152900"/>
            <a:ext cx="106566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000"/>
              <a:buFont typeface="Helvetica Neue"/>
              <a:buNone/>
            </a:pPr>
            <a:r>
              <a:rPr b="1" i="0" lang="en-US" sz="3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Exhibition Opportunities: </a:t>
            </a:r>
            <a:r>
              <a:rPr b="1" i="0" lang="en-US" sz="3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WGIC Garden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e80d0a15e1_0_170"/>
          <p:cNvSpPr/>
          <p:nvPr/>
        </p:nvSpPr>
        <p:spPr>
          <a:xfrm>
            <a:off x="2083073" y="4957233"/>
            <a:ext cx="100428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turnkey solution for a seamless and high-impact presence.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exhibition area is designed to be the vibrant heart of the congress. To maximize networking, all congress lunches and coffee breaks will take place within the Expo Zone, ensuring a constant flow of delegates and high visibility for every exhibitor throughout the day.To simplify logistics, all stands are managed and produced directly by the venue’s official providers, offering a professional, unified, and hassle-free experience.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e80d0a15e1_0_170"/>
          <p:cNvSpPr/>
          <p:nvPr/>
        </p:nvSpPr>
        <p:spPr>
          <a:xfrm>
            <a:off x="2083073" y="7124700"/>
            <a:ext cx="62619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Garden BIG (Premium Stand)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best choice for market leaders seeking maximum visibility in the exhibition area.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e80d0a15e1_0_170"/>
          <p:cNvSpPr/>
          <p:nvPr/>
        </p:nvSpPr>
        <p:spPr>
          <a:xfrm>
            <a:off x="2083073" y="8686800"/>
            <a:ext cx="8586300" cy="2679600"/>
          </a:xfrm>
          <a:prstGeom prst="rect">
            <a:avLst/>
          </a:prstGeom>
          <a:noFill/>
          <a:ln cap="flat" cmpd="sng" w="12700">
            <a:solidFill>
              <a:srgbClr val="6DEF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e80d0a15e1_0_170"/>
          <p:cNvSpPr/>
          <p:nvPr/>
        </p:nvSpPr>
        <p:spPr>
          <a:xfrm>
            <a:off x="2419667" y="8854505"/>
            <a:ext cx="7980900" cy="21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Space: Large format exhibition stand 4 m x 4m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Format: Fully produced "Turnkey" solution with a unified high-end design.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Included Services: LED strip lights., information desk (counter), electricity (3,3kW electrical switchboard  (1 socket available), high-speed Wi-Fi, pre-inauguration cleaning.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Branding: 10cm high black lettering (20 letters included).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Dedicated space for prominent company logo and custom graphics.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Furniture: 1 meeting table and 4 chairs or bar stools.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Staff: 3 Full Congress Passes included.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e80d0a15e1_0_170"/>
          <p:cNvSpPr/>
          <p:nvPr/>
        </p:nvSpPr>
        <p:spPr>
          <a:xfrm>
            <a:off x="2083073" y="11688233"/>
            <a:ext cx="10093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Investment: €8,000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80d0a15e1_0_170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e80d0a15e1_0_170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2" name="Google Shape;432;g3e80d0a15e1_0_1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3" name="Google Shape;433;g3e80d0a15e1_0_1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4" name="Google Shape;434;g3e80d0a15e1_0_1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92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5" name="Google Shape;435;g3e80d0a15e1_0_1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e80d0a15e1_0_170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7" name="Google Shape;437;g3e80d0a15e1_0_17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e80d0a15e1_0_170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9" name="Google Shape;439;g3e80d0a15e1_0_17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e80d0a15e1_0_170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1" name="Google Shape;441;g3e80d0a15e1_0_17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2" name="Google Shape;442;g3e80d0a15e1_0_17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500" y="0"/>
            <a:ext cx="10656633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3" name="Google Shape;443;g3e80d0a15e1_0_17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232729" y="838200"/>
            <a:ext cx="5626802" cy="496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4" name="Google Shape;444;g3e80d0a15e1_0_17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118414" y="7531100"/>
            <a:ext cx="5880834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g3e80d0a15e1_0_170"/>
          <p:cNvSpPr/>
          <p:nvPr/>
        </p:nvSpPr>
        <p:spPr>
          <a:xfrm>
            <a:off x="16084543" y="5837767"/>
            <a:ext cx="59487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Shell Scheme.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furniture to be defined.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company wishes, they can upgrade the basic equipment or signage included in the price. This can be checked directly with the venue and the organizers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51" name="Google Shape;451;g3e80d0a15e1_0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4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3e80d0a15e1_0_200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e80d0a15e1_0_200"/>
          <p:cNvSpPr/>
          <p:nvPr/>
        </p:nvSpPr>
        <p:spPr>
          <a:xfrm>
            <a:off x="2083073" y="4089400"/>
            <a:ext cx="8586300" cy="59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54" name="Google Shape;454;g3e80d0a15e1_0_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40513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e80d0a15e1_0_200"/>
          <p:cNvSpPr/>
          <p:nvPr/>
        </p:nvSpPr>
        <p:spPr>
          <a:xfrm>
            <a:off x="2083073" y="4318000"/>
            <a:ext cx="1025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000"/>
              <a:buFont typeface="Helvetica Neue"/>
              <a:buNone/>
            </a:pPr>
            <a:r>
              <a:rPr b="1" i="0" lang="en-US" sz="3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Exhibition Opportunities: </a:t>
            </a:r>
            <a:r>
              <a:rPr b="1" i="0" lang="en-US" sz="3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WGIC Garden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e80d0a15e1_0_200"/>
          <p:cNvSpPr/>
          <p:nvPr/>
        </p:nvSpPr>
        <p:spPr>
          <a:xfrm>
            <a:off x="2083073" y="5105400"/>
            <a:ext cx="62619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Garden MEDIUM (Standard Stand)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best choice for market leaders seeking maximum visibility in the exhibition area.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e80d0a15e1_0_200"/>
          <p:cNvSpPr/>
          <p:nvPr/>
        </p:nvSpPr>
        <p:spPr>
          <a:xfrm>
            <a:off x="2083073" y="6667500"/>
            <a:ext cx="8586300" cy="2679600"/>
          </a:xfrm>
          <a:prstGeom prst="rect">
            <a:avLst/>
          </a:prstGeom>
          <a:noFill/>
          <a:ln cap="flat" cmpd="sng" w="12700">
            <a:solidFill>
              <a:srgbClr val="6DEF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e80d0a15e1_0_200"/>
          <p:cNvSpPr/>
          <p:nvPr/>
        </p:nvSpPr>
        <p:spPr>
          <a:xfrm>
            <a:off x="2419667" y="6835205"/>
            <a:ext cx="7980900" cy="21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Space: Large format exhibition stand 3 m x 3 m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Format: Fully produced "Turnkey" solution with a unified high-end design.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Included Services: LED strip lights., information desk (counter), electricity (3,3kW electrical switchboard  (1 socket available), high-speed Wi-Fi, pre-inauguration cleaning.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Branding: 10cm high black lettering (20 letters included).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Dedicated space for prominent company logo and custom graphics.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Furniture: 1 meeting table and 2 bar stools.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Staff: 2 Full Congress Passes included.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e80d0a15e1_0_200"/>
          <p:cNvSpPr/>
          <p:nvPr/>
        </p:nvSpPr>
        <p:spPr>
          <a:xfrm>
            <a:off x="2083073" y="9745133"/>
            <a:ext cx="10093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Investment: €5,000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e80d0a15e1_0_200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e80d0a15e1_0_200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2" name="Google Shape;462;g3e80d0a15e1_0_2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3" name="Google Shape;463;g3e80d0a15e1_0_2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4" name="Google Shape;464;g3e80d0a15e1_0_2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5" name="Google Shape;465;g3e80d0a15e1_0_20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g3e80d0a15e1_0_200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7" name="Google Shape;467;g3e80d0a15e1_0_20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e80d0a15e1_0_200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9" name="Google Shape;469;g3e80d0a15e1_0_20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e80d0a15e1_0_200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71" name="Google Shape;471;g3e80d0a15e1_0_20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2" name="Google Shape;472;g3e80d0a15e1_0_20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500" y="0"/>
            <a:ext cx="10656633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3" name="Google Shape;473;g3e80d0a15e1_0_20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232729" y="838200"/>
            <a:ext cx="5626802" cy="496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4" name="Google Shape;474;g3e80d0a15e1_0_20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118414" y="7531100"/>
            <a:ext cx="5880834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e80d0a15e1_0_200"/>
          <p:cNvSpPr/>
          <p:nvPr/>
        </p:nvSpPr>
        <p:spPr>
          <a:xfrm>
            <a:off x="16084543" y="5837767"/>
            <a:ext cx="59487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Shell Scheme.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furniture to be defined.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company wishes, they can upgrade the basic equipment or signage included in the price. This can be checked directly with the venue and the organizers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81" name="Google Shape;481;g3e80d0a15e1_0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4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3e80d0a15e1_0_229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e80d0a15e1_0_229"/>
          <p:cNvSpPr/>
          <p:nvPr/>
        </p:nvSpPr>
        <p:spPr>
          <a:xfrm>
            <a:off x="2083073" y="4610100"/>
            <a:ext cx="8586300" cy="53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84" name="Google Shape;484;g3e80d0a15e1_0_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45720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g3e80d0a15e1_0_229"/>
          <p:cNvSpPr/>
          <p:nvPr/>
        </p:nvSpPr>
        <p:spPr>
          <a:xfrm>
            <a:off x="2083062" y="4838700"/>
            <a:ext cx="108855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000"/>
              <a:buFont typeface="Helvetica Neue"/>
              <a:buNone/>
            </a:pPr>
            <a:r>
              <a:rPr b="1" i="0" lang="en-US" sz="3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Exhibition Opportunities: </a:t>
            </a:r>
            <a:r>
              <a:rPr b="1" i="0" lang="en-US" sz="3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WGIC Garden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e80d0a15e1_0_229"/>
          <p:cNvSpPr/>
          <p:nvPr/>
        </p:nvSpPr>
        <p:spPr>
          <a:xfrm>
            <a:off x="2083073" y="5854700"/>
            <a:ext cx="62619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Flower (Compact Stand / Pod)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efficient and cost-effective option for startups and specialized firms.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e80d0a15e1_0_229"/>
          <p:cNvSpPr/>
          <p:nvPr/>
        </p:nvSpPr>
        <p:spPr>
          <a:xfrm>
            <a:off x="2083063" y="7399875"/>
            <a:ext cx="8586300" cy="1947300"/>
          </a:xfrm>
          <a:prstGeom prst="rect">
            <a:avLst/>
          </a:prstGeom>
          <a:noFill/>
          <a:ln cap="flat" cmpd="sng" w="12700">
            <a:solidFill>
              <a:srgbClr val="6DEF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e80d0a15e1_0_229"/>
          <p:cNvSpPr/>
          <p:nvPr/>
        </p:nvSpPr>
        <p:spPr>
          <a:xfrm>
            <a:off x="2419667" y="7399867"/>
            <a:ext cx="7980900" cy="16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Space: Compact exhibition workstation (Stand concept TBC)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Format: Minimalist design to facilitate quick interaction.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Included Services: Electricity (1 socket) and high-speed Wi-Fi.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Branding: totem –style display (provided &amp; printed by organization)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Furniture: 1 table and 2 chairs or bar stools.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Staff: 1 Full Congress Pass included.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e80d0a15e1_0_229"/>
          <p:cNvSpPr/>
          <p:nvPr/>
        </p:nvSpPr>
        <p:spPr>
          <a:xfrm>
            <a:off x="2083073" y="9745133"/>
            <a:ext cx="10093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Investment: €3,000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e80d0a15e1_0_229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e80d0a15e1_0_229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2" name="Google Shape;492;g3e80d0a15e1_0_2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3" name="Google Shape;493;g3e80d0a15e1_0_2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4" name="Google Shape;494;g3e80d0a15e1_0_2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5" name="Google Shape;495;g3e80d0a15e1_0_2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e80d0a15e1_0_229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7" name="Google Shape;497;g3e80d0a15e1_0_2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e80d0a15e1_0_229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9" name="Google Shape;499;g3e80d0a15e1_0_2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e80d0a15e1_0_229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01" name="Google Shape;501;g3e80d0a15e1_0_2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02" name="Google Shape;502;g3e80d0a15e1_0_2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500" y="0"/>
            <a:ext cx="10656633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03" name="Google Shape;503;g3e80d0a15e1_0_2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759336" y="1676400"/>
            <a:ext cx="8598976" cy="98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e80d0a15e1_0_229"/>
          <p:cNvSpPr/>
          <p:nvPr/>
        </p:nvSpPr>
        <p:spPr>
          <a:xfrm>
            <a:off x="16082424" y="11832175"/>
            <a:ext cx="59400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Indicative rendering. Final format to be defined.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10" name="Google Shape;5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9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12" name="Google Shape;5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3753977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9"/>
          <p:cNvSpPr/>
          <p:nvPr/>
        </p:nvSpPr>
        <p:spPr>
          <a:xfrm>
            <a:off x="2083060" y="4046077"/>
            <a:ext cx="186447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the Leaders already committed to WGIC26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16" name="Google Shape;5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7" name="Google Shape;51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8" name="Google Shape;51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9" name="Google Shape;51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9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21" name="Google Shape;52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9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23" name="Google Shape;52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9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25" name="Google Shape;52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82988" y="5121582"/>
            <a:ext cx="20221199" cy="675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83000" y="5115750"/>
            <a:ext cx="20221153" cy="675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33" name="Google Shape;5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6"/>
          <p:cNvSpPr/>
          <p:nvPr/>
        </p:nvSpPr>
        <p:spPr>
          <a:xfrm>
            <a:off x="2029274" y="7076894"/>
            <a:ext cx="94755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1757100" y="4277675"/>
            <a:ext cx="85191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the global community shaping the </a:t>
            </a: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of sustainable cities.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1757100" y="6556650"/>
            <a:ext cx="71499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Contact WGIC 2026 Sponsorship Team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39" name="Google Shape;5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118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0" name="Google Shape;5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1" name="Google Shape;5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2" name="Google Shape;5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6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4" name="Google Shape;5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6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6" name="Google Shape;54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5407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6"/>
          <p:cNvSpPr/>
          <p:nvPr/>
        </p:nvSpPr>
        <p:spPr>
          <a:xfrm>
            <a:off x="9853008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8" name="Google Shape;54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3008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6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6"/>
          <p:cNvSpPr/>
          <p:nvPr/>
        </p:nvSpPr>
        <p:spPr>
          <a:xfrm>
            <a:off x="1656148" y="7435491"/>
            <a:ext cx="8912400" cy="5928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+34 623 04 90 22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5490294" y="7308144"/>
            <a:ext cx="8912400" cy="7201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sng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sponsorship@wgic26.org</a:t>
            </a:r>
            <a:endParaRPr b="0" i="0" sz="3200" u="none" cap="none" strike="noStrike">
              <a:solidFill>
                <a:srgbClr val="6DEF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552" name="Google Shape;55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57095" y="889981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6"/>
          <p:cNvSpPr/>
          <p:nvPr/>
        </p:nvSpPr>
        <p:spPr>
          <a:xfrm>
            <a:off x="2083070" y="10737521"/>
            <a:ext cx="85863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6"/>
          <p:cNvSpPr/>
          <p:nvPr/>
        </p:nvSpPr>
        <p:spPr>
          <a:xfrm>
            <a:off x="1757100" y="9519400"/>
            <a:ext cx="10470600" cy="24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World Green Infrastructure Congress</a:t>
            </a:r>
            <a:r>
              <a:rPr b="1" i="0" lang="en-US" sz="48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2026 Barcelona/Lleida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1757100" y="11055175"/>
            <a:ext cx="4247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October 27-30, 2026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1757089" y="11705758"/>
            <a:ext cx="8912281" cy="4148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wgic26.barcelona</a:t>
            </a:r>
            <a:endParaRPr b="0" i="0" sz="3200" u="sng" cap="none" strike="noStrike">
              <a:solidFill>
                <a:srgbClr val="6DEF7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Sustainable Real Estate in Barcelona | Harper Real Estate - Harper Real  Estate" id="557" name="Google Shape;557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877076" y="0"/>
            <a:ext cx="12540173" cy="13768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Marina deusedas</dc:creator>
</cp:coreProperties>
</file>